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9"/>
    <p:sldId id="269" r:id="rId2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0.xml"/><Relationship Id="rId20"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covers six CloudAnalyst simulations. The first five use the same base topology and each changes one thing at a time; the sixth tests a load-based policy on a larger map. The question is how load-balancing policy and data-center provisioning affect response time and cost. The short answer: the average barely moves. The interesting differences hide in the worst-case response time and in the data-transfer bill.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Runs 01 to 05 share the same base topology: six user bases, four data centers, and 1,000 peak users per user base, each sending 60 requests per hour. I changed one variable at a time, so any difference between runs comes from that one change. The variables are the load-balancing policy, how many VMs each data center gets, and request size. Run 06 is the exception: it moves to a larger map with seven user bases, six data centers and shorter custom latencies, so its absolute response times are not directly comparable with the first five.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01 is the Round Robin baseline: the broker hands each new request to the next VM in order, and all four data centers are well provisioned. Run 02 switches to the Throttled policy, which sends each request to the next available VM and caps simultaneous requests per VM. Three data centers are starved to one VM each. Run 03 keeps that starved layout but looks at worst-case latency instead of the average. Run 04 leaves only DC2 weak to isolate a single regional bottleneck. Run 05 gives generous compute, but UB3 and UB5 send 10,000-byte requests, 100 times the 100-byte baseline, to expose data-transfer cost. Run 06 uses the Equally Spread Current Execution Load policy, which sends each request to the VM with the fewest active requests. It runs on a larger map of seven user bases and six data centers, with five VMs each in DC1 to DC5 and four in DC6.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headline finding: overall response time barely moves. Runs 01 to 05 all land between 92.59 and 95.44 milliseconds, a spread of under 3 milliseconds, about 3 percent. The bars start at zero on purpose so you can see how alike they are. Data-center processing never averages more than 3.68 milliseconds in any run, so changing the policy or the VM count only moves a very small part of the total. Run 06 is left off this chart because its map and latencies differ.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doesn't the average move? Because inter-region network latency dominates it. In the baseline, five of the six user bases see about 50 milliseconds, while data-center processing averages only 0.84 milliseconds. UB5 is the outlier at about 300 milliseconds. It sits far from its data center, and it looks the same in runs 01 to 05, so it is a geographic latency floor, not a load-balancing effect. No broker policy can remove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the two policies directly. Round Robin, with all data centers well provisioned, gives the fastest average in the study: 92.59 milliseconds, with essentially free processing. The Throttled run starves DC1 through DC3 to one VM each. Requests queue, so average processing rises from 0.84 to 3.68 milliseconds, with DC1 and DC2 reaching about 6.4. Overall response rises by less than 3 milliseconds because processing is still tiny next to network latency. The payoff is cost: 108.56 dollars, the lowest in the study, because far fewer VMs are rented. The right choice depends on whether the SLA or the budget is the binding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lesson of the study. Run 03 uses the same starved 1, 1, 1, 30 layout as the Throttled run, but here I looked at worst-case latency instead of the average. The averages are almost identical: 95.44 versus 95.43 milliseconds, and the cost is the same 108.56 dollars. But the maximum response time spikes to 552.75 milliseconds, about 38 percent worse than the Throttled run's 400.88, and the maximum processing time reaches 24.26 milliseconds. A single-VM data center can't schedule a burst fast enough. If you only report the average, you miss this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run 04 I gave three data centers 20 VMs each and left only DC2 with one VM. The result isolates it cleanly: DC2's average processing time is 6.41 milliseconds while the other three sit near 1 millisecond. UB2, which DC2 serves, rises to about 56 milliseconds versus about 50.5 for the other nearby user bases. Overall response stays near the baseline at 93.51 milliseconds because only one region is hurt. The lesson is that load balancing can't compensate for a region that simply lacks capacity. The fix is provisioning, not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cost. In the first four runs, data transfer is a constant 29.35 dollars, so the bill tracks VM count. It ranges from 108.56 dollars for the starved layouts to 175.76 for the network edge case. Run 05 gives generous compute, and it has the best processing time of any run: 0.84 milliseconds average, 1.55 maximum. But UB3 and UB5 send requests 100 times larger. Data-transfer cost explodes from about 29 dollars to 1,001.58, and 981.99 of that is at DC3 alone. The grand total reaches 1,157.59 dollars, roughly seven times the baseline. In cloud pricing, data transfer, not compute, is often the dominant cost. Run 06 is the cheapest of all at 103.85 dollars: its 29 VMs cost 69.61 and data transfer 34.24, a little above the other runs because it has seven user bases instead of six.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all six runs in one table. The average column is nearly flat. The maximum column is where under-provisioning shows up. The cost column is where payload size shows up. The cost-sensitive run's maximum also climbs, to 550.67 milliseconds, and that maximum is on UB5, one of the two user bases sending the large requests. Round Robin is the fastest on average, and the starved 1, 1, 1, 30 layout is the cheapest. Run 06 is shown in gray and not ranked: it has the best number in every column, but it runs on a larger map with shorter latencies, so it is not a like-for-like comparison.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conclusions. One: network latency dominates the average. Runs 01 to 05 cluster at 92 to 95 milliseconds regardless of policy, because inter-region delay dwarfs processing time. Two: provisioning drives the tail, not the mean. Starving data centers barely moves the average but sharply raises the maximum. Three: the policy choice depends on the binding constraint. Round Robin is fastest, Throttled is cheapest. Four: payload size, not VM count, is the biggest cost lever. Data transfer alone was over a thousand dollars in the cost-sensitive run. Five: load balancing works inside a data center, not across them. Equally Spread kept processing at 0.55 milliseconds even where a data center carried twice the traffic, but it could not send work to DC6, which sat idle and still cost 9.60 dollars.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one thing to take away, it's this: always report tail latency, meaning the maximum or the 95th percentile, not just the average. In this study, the average hid the worst failure mode.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06 tests the Equally Spread Current Execution Load policy, which sends each request to the VM with the fewest active requests. It runs on a larger map: seven user bases, six data centers, and custom latencies that are shorter than in the other runs. Response time per user base simply follows network distance, from 10.42 milliseconds for UB1 to 200.23 for UB7. Data-center processing averages 0.55 milliseconds, the lowest of all six runs, so once again the network sets the response time. The overall average of 78.81 milliseconds is lower than runs 01 to 05 because of the shorter latencies, not because of the policy.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load. DC1 and DC3 each carry about twice the peak traffic of DC2, DC4 and DC5, roughly 120,000 versus 60,000 requests per hour, and their data-transfer cost is double too. Yet their average processing times, 0.51 and 0.54 milliseconds, match the others: Equally Spread hands each request to the least-busy VM, and the doubled traffic did not build a queue. DC6 got no requests at all but still billed 9.60 dollars for its four VMs. The load-balancing policy only chooses a VM inside a data center; which data center gets the traffic is up to the service broker, so no load-balancing policy could have used DC6. Overall this was the cheapest run, at 103.85 dollars.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1149350"/>
            <a:ext cx="76200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COP 6819 · ADVANCED INTERNET SYSTEMS</a:t>
            </a:r>
            <a:endParaRPr lang="en-US" sz="1200" dirty="0"/>
          </a:p>
        </p:txBody>
      </p:sp>
      <p:pic>
        <p:nvPicPr>
          <p:cNvPr id="4" name="Image 1" descr="Florida Atlantic University owl logo">    </p:cNvPr>
          <p:cNvPicPr>
            <a:picLocks noChangeAspect="1"/>
          </p:cNvPicPr>
          <p:nvPr/>
        </p:nvPicPr>
        <p:blipFill>
          <a:blip r:embed="rId2"/>
          <a:stretch>
            <a:fillRect/>
          </a:stretch>
        </p:blipFill>
        <p:spPr>
          <a:xfrm>
            <a:off x="9912350" y="812800"/>
            <a:ext cx="1466850" cy="889000"/>
          </a:xfrm>
          <a:prstGeom prst="rect">
            <a:avLst/>
          </a:prstGeom>
        </p:spPr>
      </p:pic>
      <p:sp>
        <p:nvSpPr>
          <p:cNvPr id="5" name="Shape 1"/>
          <p:cNvSpPr/>
          <p:nvPr/>
        </p:nvSpPr>
        <p:spPr>
          <a:xfrm>
            <a:off x="812800" y="2451100"/>
            <a:ext cx="1016000" cy="38100"/>
          </a:xfrm>
          <a:prstGeom prst="rect">
            <a:avLst/>
          </a:prstGeom>
          <a:solidFill>
            <a:srgbClr val="B4491A"/>
          </a:solidFill>
          <a:ln/>
        </p:spPr>
        <p:txBody>
          <a:bodyPr/>
          <a:p/>
        </p:txBody>
      </p:sp>
      <p:sp>
        <p:nvSpPr>
          <p:cNvPr id="6" name="Text 2"/>
          <p:cNvSpPr txBox="1"/>
          <p:nvPr/>
        </p:nvSpPr>
        <p:spPr>
          <a:xfrm>
            <a:off x="812800" y="2692400"/>
            <a:ext cx="10566400" cy="8890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CloudAnalyst Results</a:t>
            </a:r>
            <a:endParaRPr lang="en-US" sz="6000" dirty="0"/>
          </a:p>
        </p:txBody>
      </p:sp>
      <p:sp>
        <p:nvSpPr>
          <p:cNvPr id="7" name="Text 3"/>
          <p:cNvSpPr txBox="1"/>
          <p:nvPr/>
        </p:nvSpPr>
        <p:spPr>
          <a:xfrm>
            <a:off x="812800" y="3784600"/>
            <a:ext cx="8255000" cy="787400"/>
          </a:xfrm>
          <a:prstGeom prst="rect">
            <a:avLst/>
          </a:prstGeom>
          <a:noFill/>
          <a:ln/>
        </p:spPr>
        <p:txBody>
          <a:bodyPr wrap="square" lIns="0" tIns="0" rIns="0" bIns="0" rtlCol="0" anchor="t"/>
          <a:lstStyle/>
          <a:p>
            <a:pPr algn="l" indent="0" marL="0">
              <a:lnSpc>
                <a:spcPct val="110000"/>
              </a:lnSpc>
              <a:buNone/>
            </a:pPr>
            <a:r>
              <a:rPr lang="en-US" sz="2200" dirty="0">
                <a:solidFill>
                  <a:srgbClr val="4A5568"/>
                </a:solidFill>
                <a:latin typeface="Arial" pitchFamily="34" charset="0"/>
                <a:ea typeface="Arial" pitchFamily="34" charset="-122"/>
                <a:cs typeface="Arial" pitchFamily="34" charset="-120"/>
              </a:rPr>
              <a:t>How load-balancing policy and data-center provisioning shape response time and cost</a:t>
            </a:r>
            <a:endParaRPr lang="en-US" sz="2200" dirty="0"/>
          </a:p>
        </p:txBody>
      </p:sp>
      <p:sp>
        <p:nvSpPr>
          <p:cNvPr id="8" name="Text 4"/>
          <p:cNvSpPr txBox="1"/>
          <p:nvPr/>
        </p:nvSpPr>
        <p:spPr>
          <a:xfrm>
            <a:off x="812800" y="5499100"/>
            <a:ext cx="5080000" cy="266700"/>
          </a:xfrm>
          <a:prstGeom prst="rect">
            <a:avLst/>
          </a:prstGeom>
          <a:noFill/>
          <a:ln/>
        </p:spPr>
        <p:txBody>
          <a:bodyPr wrap="square" lIns="0" tIns="0" rIns="0" bIns="0" rtlCol="0" anchor="t"/>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Aryan Kanani</a:t>
            </a:r>
            <a:endParaRPr lang="en-US" sz="1600" dirty="0"/>
          </a:p>
        </p:txBody>
      </p:sp>
      <p:sp>
        <p:nvSpPr>
          <p:cNvPr id="9" name="Text 5"/>
          <p:cNvSpPr txBox="1"/>
          <p:nvPr/>
        </p:nvSpPr>
        <p:spPr>
          <a:xfrm>
            <a:off x="812800" y="5816600"/>
            <a:ext cx="5715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Florida Atlantic University · Cloud Analyst Assignment</a:t>
            </a:r>
            <a:endParaRPr lang="en-US" sz="1200" dirty="0"/>
          </a:p>
        </p:txBody>
      </p:sp>
      <p:sp>
        <p:nvSpPr>
          <p:cNvPr id="10" name="Text 6"/>
          <p:cNvSpPr txBox="1"/>
          <p:nvPr/>
        </p:nvSpPr>
        <p:spPr>
          <a:xfrm>
            <a:off x="6934200" y="5816600"/>
            <a:ext cx="4445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6 simulations · up to 7 user bases · 6 data centers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THE SETUP</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One base topology for runs 01–05</a:t>
            </a:r>
            <a:endParaRPr lang="en-US" sz="3600" dirty="0"/>
          </a:p>
        </p:txBody>
      </p:sp>
      <p:sp>
        <p:nvSpPr>
          <p:cNvPr id="5" name="Shape 2"/>
          <p:cNvSpPr/>
          <p:nvPr/>
        </p:nvSpPr>
        <p:spPr>
          <a:xfrm>
            <a:off x="812800" y="2540000"/>
            <a:ext cx="2413000" cy="25400"/>
          </a:xfrm>
          <a:prstGeom prst="rect">
            <a:avLst/>
          </a:prstGeom>
          <a:solidFill>
            <a:srgbClr val="2456C7"/>
          </a:solidFill>
          <a:ln/>
        </p:spPr>
        <p:txBody>
          <a:bodyPr/>
          <a:p/>
        </p:txBody>
      </p:sp>
      <p:sp>
        <p:nvSpPr>
          <p:cNvPr id="6" name="Text 3"/>
          <p:cNvSpPr txBox="1"/>
          <p:nvPr/>
        </p:nvSpPr>
        <p:spPr>
          <a:xfrm>
            <a:off x="812800" y="2768600"/>
            <a:ext cx="2413000" cy="8636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6</a:t>
            </a:r>
            <a:endParaRPr lang="en-US" sz="6000" dirty="0"/>
          </a:p>
        </p:txBody>
      </p:sp>
      <p:sp>
        <p:nvSpPr>
          <p:cNvPr id="7" name="Text 4"/>
          <p:cNvSpPr txBox="1"/>
          <p:nvPr/>
        </p:nvSpPr>
        <p:spPr>
          <a:xfrm>
            <a:off x="812800" y="3708400"/>
            <a:ext cx="2413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user bases, UB1–UB6</a:t>
            </a:r>
            <a:endParaRPr lang="en-US" sz="1600" dirty="0"/>
          </a:p>
        </p:txBody>
      </p:sp>
      <p:sp>
        <p:nvSpPr>
          <p:cNvPr id="8" name="Shape 5"/>
          <p:cNvSpPr/>
          <p:nvPr/>
        </p:nvSpPr>
        <p:spPr>
          <a:xfrm>
            <a:off x="3530600" y="2540000"/>
            <a:ext cx="2413000" cy="25400"/>
          </a:xfrm>
          <a:prstGeom prst="rect">
            <a:avLst/>
          </a:prstGeom>
          <a:solidFill>
            <a:srgbClr val="2456C7"/>
          </a:solidFill>
          <a:ln/>
        </p:spPr>
        <p:txBody>
          <a:bodyPr/>
          <a:p/>
        </p:txBody>
      </p:sp>
      <p:sp>
        <p:nvSpPr>
          <p:cNvPr id="9" name="Text 6"/>
          <p:cNvSpPr txBox="1"/>
          <p:nvPr/>
        </p:nvSpPr>
        <p:spPr>
          <a:xfrm>
            <a:off x="3530600" y="2768600"/>
            <a:ext cx="2413000" cy="8636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4</a:t>
            </a:r>
            <a:endParaRPr lang="en-US" sz="6000" dirty="0"/>
          </a:p>
        </p:txBody>
      </p:sp>
      <p:sp>
        <p:nvSpPr>
          <p:cNvPr id="10" name="Text 7"/>
          <p:cNvSpPr txBox="1"/>
          <p:nvPr/>
        </p:nvSpPr>
        <p:spPr>
          <a:xfrm>
            <a:off x="3530600" y="3708400"/>
            <a:ext cx="2413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data centers, DC1–DC4</a:t>
            </a:r>
            <a:endParaRPr lang="en-US" sz="1600" dirty="0"/>
          </a:p>
        </p:txBody>
      </p:sp>
      <p:sp>
        <p:nvSpPr>
          <p:cNvPr id="11" name="Shape 8"/>
          <p:cNvSpPr/>
          <p:nvPr/>
        </p:nvSpPr>
        <p:spPr>
          <a:xfrm>
            <a:off x="6248400" y="2540000"/>
            <a:ext cx="2413000" cy="25400"/>
          </a:xfrm>
          <a:prstGeom prst="rect">
            <a:avLst/>
          </a:prstGeom>
          <a:solidFill>
            <a:srgbClr val="2456C7"/>
          </a:solidFill>
          <a:ln/>
        </p:spPr>
        <p:txBody>
          <a:bodyPr/>
          <a:p/>
        </p:txBody>
      </p:sp>
      <p:sp>
        <p:nvSpPr>
          <p:cNvPr id="12" name="Text 9"/>
          <p:cNvSpPr txBox="1"/>
          <p:nvPr/>
        </p:nvSpPr>
        <p:spPr>
          <a:xfrm>
            <a:off x="6248400" y="2768600"/>
            <a:ext cx="2413000" cy="8636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1,000</a:t>
            </a:r>
            <a:endParaRPr lang="en-US" sz="6000" dirty="0"/>
          </a:p>
        </p:txBody>
      </p:sp>
      <p:sp>
        <p:nvSpPr>
          <p:cNvPr id="13" name="Text 10"/>
          <p:cNvSpPr txBox="1"/>
          <p:nvPr/>
        </p:nvSpPr>
        <p:spPr>
          <a:xfrm>
            <a:off x="6248400" y="3708400"/>
            <a:ext cx="2413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peak users per user base</a:t>
            </a:r>
            <a:endParaRPr lang="en-US" sz="1600" dirty="0"/>
          </a:p>
        </p:txBody>
      </p:sp>
      <p:sp>
        <p:nvSpPr>
          <p:cNvPr id="14" name="Shape 11"/>
          <p:cNvSpPr/>
          <p:nvPr/>
        </p:nvSpPr>
        <p:spPr>
          <a:xfrm>
            <a:off x="8966200" y="2540000"/>
            <a:ext cx="2413000" cy="25400"/>
          </a:xfrm>
          <a:prstGeom prst="rect">
            <a:avLst/>
          </a:prstGeom>
          <a:solidFill>
            <a:srgbClr val="2456C7"/>
          </a:solidFill>
          <a:ln/>
        </p:spPr>
        <p:txBody>
          <a:bodyPr/>
          <a:p/>
        </p:txBody>
      </p:sp>
      <p:sp>
        <p:nvSpPr>
          <p:cNvPr id="15" name="Text 12"/>
          <p:cNvSpPr txBox="1"/>
          <p:nvPr/>
        </p:nvSpPr>
        <p:spPr>
          <a:xfrm>
            <a:off x="8966200" y="2768600"/>
            <a:ext cx="2413000" cy="8636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60</a:t>
            </a:r>
            <a:endParaRPr lang="en-US" sz="6000" dirty="0"/>
          </a:p>
        </p:txBody>
      </p:sp>
      <p:sp>
        <p:nvSpPr>
          <p:cNvPr id="16" name="Text 13"/>
          <p:cNvSpPr txBox="1"/>
          <p:nvPr/>
        </p:nvSpPr>
        <p:spPr>
          <a:xfrm>
            <a:off x="8966200" y="3708400"/>
            <a:ext cx="2413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requests per user per hour</a:t>
            </a:r>
            <a:endParaRPr lang="en-US" sz="1600" dirty="0"/>
          </a:p>
        </p:txBody>
      </p:sp>
      <p:sp>
        <p:nvSpPr>
          <p:cNvPr id="17" name="Text 14"/>
          <p:cNvSpPr txBox="1"/>
          <p:nvPr/>
        </p:nvSpPr>
        <p:spPr>
          <a:xfrm>
            <a:off x="812800" y="5016500"/>
            <a:ext cx="8890000" cy="86868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Runs 01–05 each change one thing: the service-broker policy, the VM count per data center, or the request size (100 bytes at baseline). Run 06 tests a load-based policy on a larger map of 7 user bases and 6 data centers.</a:t>
            </a:r>
            <a:endParaRPr lang="en-US" sz="1600" dirty="0"/>
          </a:p>
        </p:txBody>
      </p:sp>
      <p:sp>
        <p:nvSpPr>
          <p:cNvPr id="18" name="Text 15"/>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19" name="Text 16"/>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SCENARIOS</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Six runs, one question each</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943100"/>
          <a:ext cx="10566400" cy="2933700"/>
        </p:xfrm>
        <a:graphic>
          <a:graphicData uri="http://schemas.openxmlformats.org/drawingml/2006/table">
            <a:tbl>
              <a:tblPr/>
              <a:tblGrid>
                <a:gridCol w="528320"/>
                <a:gridCol w="3486912"/>
                <a:gridCol w="2324608"/>
                <a:gridCol w="4226560"/>
              </a:tblGrid>
              <a:tr h="419100">
                <a:tc>
                  <a:txBody>
                    <a:bodyPr/>
                    <a:lstStyle/>
                    <a:p>
                      <a:pPr indent="0" marL="0">
                        <a:buNone/>
                      </a:pPr>
                      <a:r>
                        <a:rPr lang="en-US" sz="1600" b="1" dirty="0">
                          <a:solidFill>
                            <a:srgbClr val="636B78"/>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b="1" dirty="0">
                          <a:solidFill>
                            <a:srgbClr val="636B78"/>
                          </a:solidFill>
                          <a:latin typeface="Arial" pitchFamily="34" charset="0"/>
                          <a:ea typeface="Arial" pitchFamily="34" charset="-122"/>
                          <a:cs typeface="Arial" pitchFamily="34" charset="-120"/>
                        </a:rPr>
                        <a:t>Scenario</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b="1" dirty="0">
                          <a:solidFill>
                            <a:srgbClr val="636B78"/>
                          </a:solidFill>
                          <a:latin typeface="Arial" pitchFamily="34" charset="0"/>
                          <a:ea typeface="Arial" pitchFamily="34" charset="-122"/>
                          <a:cs typeface="Arial" pitchFamily="34" charset="-120"/>
                        </a:rPr>
                        <a:t>VMs per DC</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b="1" dirty="0">
                          <a:solidFill>
                            <a:srgbClr val="636B78"/>
                          </a:solidFill>
                          <a:latin typeface="Arial" pitchFamily="34" charset="0"/>
                          <a:ea typeface="Arial" pitchFamily="34" charset="-122"/>
                          <a:cs typeface="Arial" pitchFamily="34" charset="-120"/>
                        </a:rPr>
                        <a:t>What it tests</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01</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solidFill>
                      <a:srgbClr val="EEF0F3"/>
                    </a:solidFill>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Round Robin (baseline)</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solidFill>
                      <a:srgbClr val="EEF0F3"/>
                    </a:solidFill>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15 / 5 / 5 / 30</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solidFill>
                      <a:srgbClr val="EEF0F3"/>
                    </a:solidFill>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VMs take requests in turn</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solidFill>
                      <a:srgbClr val="EEF0F3"/>
                    </a:solidFill>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02</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Throttled</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1 / 1 / 1 / 30</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Caps concurrent requests per VM</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03</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Under-provisioned DC</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1 / 1 / 1 / 30</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Same layout, read for the tail</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04</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Network latency edge case</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20 / 1 / 20 / 20</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Only DC2 is weak</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05</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Cost-sensitive</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15 / 15 / 20 / 15</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UB3, UB5 requests 100× larger</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indent="0" marL="0">
                        <a:buNone/>
                      </a:pPr>
                      <a:r>
                        <a:rPr lang="en-US" sz="1600" dirty="0">
                          <a:solidFill>
                            <a:srgbClr val="0F1B2D"/>
                          </a:solidFill>
                          <a:latin typeface="Arial" pitchFamily="34" charset="0"/>
                          <a:ea typeface="Arial" pitchFamily="34" charset="-122"/>
                          <a:cs typeface="Arial" pitchFamily="34" charset="-120"/>
                        </a:rPr>
                        <a:t>06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Equally Spread (load-based)</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5 / 5 / 5 / 5 / 5 / 4</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indent="0" marL="0">
                        <a:buNone/>
                      </a:pPr>
                      <a:r>
                        <a:rPr lang="en-US" sz="1600" dirty="0">
                          <a:solidFill>
                            <a:srgbClr val="0F1B2D"/>
                          </a:solidFill>
                          <a:latin typeface="Arial" pitchFamily="34" charset="0"/>
                          <a:ea typeface="Arial" pitchFamily="34" charset="-122"/>
                          <a:cs typeface="Arial" pitchFamily="34" charset="-120"/>
                        </a:rPr>
                        <a:t>Least-busy VM; 7 UBs, 6 DCs</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bl>
          </a:graphicData>
        </a:graphic>
      </p:graphicFrame>
      <p:sp>
        <p:nvSpPr>
          <p:cNvPr id="6" name="Text 2"/>
          <p:cNvSpPr txBox="1"/>
          <p:nvPr/>
        </p:nvSpPr>
        <p:spPr>
          <a:xfrm>
            <a:off x="812800" y="5120640"/>
            <a:ext cx="105664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UB = user base · DC = data center · VM counts read DC1 / DC2 / DC3 … in order</a:t>
            </a:r>
            <a:endParaRPr lang="en-US" sz="1200" dirty="0"/>
          </a:p>
        </p:txBody>
      </p:sp>
      <p:sp>
        <p:nvSpPr>
          <p:cNvPr id="7" name="Text 3"/>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8" name="Text 4"/>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RESPONSE TIME</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Average response barely moves</a:t>
            </a:r>
            <a:endParaRPr lang="en-US" sz="3600" dirty="0"/>
          </a:p>
        </p:txBody>
      </p:sp>
      <p:sp>
        <p:nvSpPr>
          <p:cNvPr id="5" name="Text 2"/>
          <p:cNvSpPr txBox="1"/>
          <p:nvPr/>
        </p:nvSpPr>
        <p:spPr>
          <a:xfrm>
            <a:off x="812800" y="2095500"/>
            <a:ext cx="279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Round Robin</a:t>
            </a:r>
            <a:endParaRPr lang="en-US" sz="1600" dirty="0"/>
          </a:p>
        </p:txBody>
      </p:sp>
      <p:sp>
        <p:nvSpPr>
          <p:cNvPr id="6" name="Shape 3"/>
          <p:cNvSpPr/>
          <p:nvPr/>
        </p:nvSpPr>
        <p:spPr>
          <a:xfrm>
            <a:off x="3759200" y="2095500"/>
            <a:ext cx="5289550" cy="279400"/>
          </a:xfrm>
          <a:prstGeom prst="rect">
            <a:avLst/>
          </a:prstGeom>
          <a:solidFill>
            <a:srgbClr val="2456C7"/>
          </a:solidFill>
          <a:ln/>
        </p:spPr>
        <p:txBody>
          <a:bodyPr/>
          <a:p/>
        </p:txBody>
      </p:sp>
      <p:sp>
        <p:nvSpPr>
          <p:cNvPr id="7" name="Text 4"/>
          <p:cNvSpPr txBox="1"/>
          <p:nvPr/>
        </p:nvSpPr>
        <p:spPr>
          <a:xfrm>
            <a:off x="9201150" y="20955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92.59 ms</a:t>
            </a:r>
            <a:endParaRPr lang="en-US" sz="1600" dirty="0"/>
          </a:p>
        </p:txBody>
      </p:sp>
      <p:sp>
        <p:nvSpPr>
          <p:cNvPr id="8" name="Text 5"/>
          <p:cNvSpPr txBox="1"/>
          <p:nvPr/>
        </p:nvSpPr>
        <p:spPr>
          <a:xfrm>
            <a:off x="812800" y="2527300"/>
            <a:ext cx="279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Throttled</a:t>
            </a:r>
            <a:endParaRPr lang="en-US" sz="1600" dirty="0"/>
          </a:p>
        </p:txBody>
      </p:sp>
      <p:sp>
        <p:nvSpPr>
          <p:cNvPr id="9" name="Shape 6"/>
          <p:cNvSpPr/>
          <p:nvPr/>
        </p:nvSpPr>
        <p:spPr>
          <a:xfrm>
            <a:off x="3759200" y="2527300"/>
            <a:ext cx="5454650" cy="279400"/>
          </a:xfrm>
          <a:prstGeom prst="rect">
            <a:avLst/>
          </a:prstGeom>
          <a:solidFill>
            <a:srgbClr val="2456C7"/>
          </a:solidFill>
          <a:ln/>
        </p:spPr>
        <p:txBody>
          <a:bodyPr/>
          <a:p/>
        </p:txBody>
      </p:sp>
      <p:sp>
        <p:nvSpPr>
          <p:cNvPr id="10" name="Text 7"/>
          <p:cNvSpPr txBox="1"/>
          <p:nvPr/>
        </p:nvSpPr>
        <p:spPr>
          <a:xfrm>
            <a:off x="9366250" y="25273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95.43 ms</a:t>
            </a:r>
            <a:endParaRPr lang="en-US" sz="1600" dirty="0"/>
          </a:p>
        </p:txBody>
      </p:sp>
      <p:sp>
        <p:nvSpPr>
          <p:cNvPr id="11" name="Text 8"/>
          <p:cNvSpPr txBox="1"/>
          <p:nvPr/>
        </p:nvSpPr>
        <p:spPr>
          <a:xfrm>
            <a:off x="812800" y="2959100"/>
            <a:ext cx="279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Under-provisioned</a:t>
            </a:r>
            <a:endParaRPr lang="en-US" sz="1600" dirty="0"/>
          </a:p>
        </p:txBody>
      </p:sp>
      <p:sp>
        <p:nvSpPr>
          <p:cNvPr id="12" name="Shape 9"/>
          <p:cNvSpPr/>
          <p:nvPr/>
        </p:nvSpPr>
        <p:spPr>
          <a:xfrm>
            <a:off x="3759200" y="2959100"/>
            <a:ext cx="5454650" cy="279400"/>
          </a:xfrm>
          <a:prstGeom prst="rect">
            <a:avLst/>
          </a:prstGeom>
          <a:solidFill>
            <a:srgbClr val="2456C7"/>
          </a:solidFill>
          <a:ln/>
        </p:spPr>
        <p:txBody>
          <a:bodyPr/>
          <a:p/>
        </p:txBody>
      </p:sp>
      <p:sp>
        <p:nvSpPr>
          <p:cNvPr id="13" name="Text 10"/>
          <p:cNvSpPr txBox="1"/>
          <p:nvPr/>
        </p:nvSpPr>
        <p:spPr>
          <a:xfrm>
            <a:off x="9366250" y="29591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95.44 ms</a:t>
            </a:r>
            <a:endParaRPr lang="en-US" sz="1600" dirty="0"/>
          </a:p>
        </p:txBody>
      </p:sp>
      <p:sp>
        <p:nvSpPr>
          <p:cNvPr id="14" name="Text 11"/>
          <p:cNvSpPr txBox="1"/>
          <p:nvPr/>
        </p:nvSpPr>
        <p:spPr>
          <a:xfrm>
            <a:off x="812800" y="3390900"/>
            <a:ext cx="279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Network edge case</a:t>
            </a:r>
            <a:endParaRPr lang="en-US" sz="1600" dirty="0"/>
          </a:p>
        </p:txBody>
      </p:sp>
      <p:sp>
        <p:nvSpPr>
          <p:cNvPr id="15" name="Shape 12"/>
          <p:cNvSpPr/>
          <p:nvPr/>
        </p:nvSpPr>
        <p:spPr>
          <a:xfrm>
            <a:off x="3759200" y="3390900"/>
            <a:ext cx="5346700" cy="279400"/>
          </a:xfrm>
          <a:prstGeom prst="rect">
            <a:avLst/>
          </a:prstGeom>
          <a:solidFill>
            <a:srgbClr val="2456C7"/>
          </a:solidFill>
          <a:ln/>
        </p:spPr>
        <p:txBody>
          <a:bodyPr/>
          <a:p/>
        </p:txBody>
      </p:sp>
      <p:sp>
        <p:nvSpPr>
          <p:cNvPr id="16" name="Text 13"/>
          <p:cNvSpPr txBox="1"/>
          <p:nvPr/>
        </p:nvSpPr>
        <p:spPr>
          <a:xfrm>
            <a:off x="9258300" y="33909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93.51 ms</a:t>
            </a:r>
            <a:endParaRPr lang="en-US" sz="1600" dirty="0"/>
          </a:p>
        </p:txBody>
      </p:sp>
      <p:sp>
        <p:nvSpPr>
          <p:cNvPr id="17" name="Text 14"/>
          <p:cNvSpPr txBox="1"/>
          <p:nvPr/>
        </p:nvSpPr>
        <p:spPr>
          <a:xfrm>
            <a:off x="812800" y="3822700"/>
            <a:ext cx="279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Cost-sensitive</a:t>
            </a:r>
            <a:endParaRPr lang="en-US" sz="1600" dirty="0"/>
          </a:p>
        </p:txBody>
      </p:sp>
      <p:sp>
        <p:nvSpPr>
          <p:cNvPr id="18" name="Shape 15"/>
          <p:cNvSpPr/>
          <p:nvPr/>
        </p:nvSpPr>
        <p:spPr>
          <a:xfrm>
            <a:off x="3759200" y="3822700"/>
            <a:ext cx="5441950" cy="279400"/>
          </a:xfrm>
          <a:prstGeom prst="rect">
            <a:avLst/>
          </a:prstGeom>
          <a:solidFill>
            <a:srgbClr val="2456C7"/>
          </a:solidFill>
          <a:ln/>
        </p:spPr>
        <p:txBody>
          <a:bodyPr/>
          <a:p/>
        </p:txBody>
      </p:sp>
      <p:sp>
        <p:nvSpPr>
          <p:cNvPr id="19" name="Text 16"/>
          <p:cNvSpPr txBox="1"/>
          <p:nvPr/>
        </p:nvSpPr>
        <p:spPr>
          <a:xfrm>
            <a:off x="9353550" y="38227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95.20 ms</a:t>
            </a:r>
            <a:endParaRPr lang="en-US" sz="1600" dirty="0"/>
          </a:p>
        </p:txBody>
      </p:sp>
      <p:sp>
        <p:nvSpPr>
          <p:cNvPr id="20" name="Shape 17"/>
          <p:cNvSpPr/>
          <p:nvPr/>
        </p:nvSpPr>
        <p:spPr>
          <a:xfrm>
            <a:off x="3759200" y="4178300"/>
            <a:ext cx="5715000" cy="12700"/>
          </a:xfrm>
          <a:prstGeom prst="rect">
            <a:avLst/>
          </a:prstGeom>
          <a:solidFill>
            <a:srgbClr val="C9CCD1"/>
          </a:solidFill>
          <a:ln/>
        </p:spPr>
        <p:txBody>
          <a:bodyPr/>
          <a:p/>
        </p:txBody>
      </p:sp>
      <p:sp>
        <p:nvSpPr>
          <p:cNvPr id="21" name="Text 18"/>
          <p:cNvSpPr txBox="1"/>
          <p:nvPr/>
        </p:nvSpPr>
        <p:spPr>
          <a:xfrm>
            <a:off x="3759200" y="4254500"/>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 ms</a:t>
            </a:r>
            <a:endParaRPr lang="en-US" sz="1200" dirty="0"/>
          </a:p>
        </p:txBody>
      </p:sp>
      <p:sp>
        <p:nvSpPr>
          <p:cNvPr id="22" name="Text 19"/>
          <p:cNvSpPr txBox="1"/>
          <p:nvPr/>
        </p:nvSpPr>
        <p:spPr>
          <a:xfrm>
            <a:off x="8204200" y="42545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100 ms</a:t>
            </a:r>
            <a:endParaRPr lang="en-US" sz="1200" dirty="0"/>
          </a:p>
        </p:txBody>
      </p:sp>
      <p:sp>
        <p:nvSpPr>
          <p:cNvPr id="23" name="Text 20"/>
          <p:cNvSpPr txBox="1"/>
          <p:nvPr/>
        </p:nvSpPr>
        <p:spPr>
          <a:xfrm>
            <a:off x="812800" y="4775200"/>
            <a:ext cx="4064000" cy="3302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2.85 ms</a:t>
            </a:r>
            <a:endParaRPr lang="en-US" sz="2200" dirty="0"/>
          </a:p>
        </p:txBody>
      </p:sp>
      <p:sp>
        <p:nvSpPr>
          <p:cNvPr id="24" name="Text 21"/>
          <p:cNvSpPr txBox="1"/>
          <p:nvPr/>
        </p:nvSpPr>
        <p:spPr>
          <a:xfrm>
            <a:off x="812800" y="5156200"/>
            <a:ext cx="4064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gap between the fastest and slowest average in runs 01–05, about 3%</a:t>
            </a:r>
            <a:endParaRPr lang="en-US" sz="1600" dirty="0"/>
          </a:p>
        </p:txBody>
      </p:sp>
      <p:sp>
        <p:nvSpPr>
          <p:cNvPr id="25" name="Text 22"/>
          <p:cNvSpPr txBox="1"/>
          <p:nvPr/>
        </p:nvSpPr>
        <p:spPr>
          <a:xfrm>
            <a:off x="5486400" y="4775200"/>
            <a:ext cx="4064000" cy="3302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3.68 ms</a:t>
            </a:r>
            <a:endParaRPr lang="en-US" sz="2200" dirty="0"/>
          </a:p>
        </p:txBody>
      </p:sp>
      <p:sp>
        <p:nvSpPr>
          <p:cNvPr id="26" name="Text 23"/>
          <p:cNvSpPr txBox="1"/>
          <p:nvPr/>
        </p:nvSpPr>
        <p:spPr>
          <a:xfrm>
            <a:off x="5486400" y="5156200"/>
            <a:ext cx="4064000" cy="571500"/>
          </a:xfrm>
          <a:prstGeom prst="rect">
            <a:avLst/>
          </a:prstGeom>
          <a:noFill/>
          <a:ln/>
        </p:spPr>
        <p:txBody>
          <a:bodyPr wrap="square" lIns="0" tIns="0" rIns="0" bIns="0" rtlCol="0" anchor="t"/>
          <a:lstStyle/>
          <a:p>
            <a:pPr algn="l" indent="0" marL="0">
              <a:lnSpc>
                <a:spcPct val="110000"/>
              </a:lnSpc>
              <a:buNone/>
            </a:pPr>
            <a:r>
              <a:rPr lang="en-US" sz="1600" dirty="0">
                <a:solidFill>
                  <a:srgbClr val="4A5568"/>
                </a:solidFill>
                <a:latin typeface="Arial" pitchFamily="34" charset="0"/>
                <a:ea typeface="Arial" pitchFamily="34" charset="-122"/>
                <a:cs typeface="Arial" pitchFamily="34" charset="-120"/>
              </a:rPr>
              <a:t>highest average data-center processing time in any run</a:t>
            </a:r>
            <a:endParaRPr lang="en-US" sz="1600" dirty="0"/>
          </a:p>
        </p:txBody>
      </p:sp>
      <p:sp>
        <p:nvSpPr>
          <p:cNvPr id="27" name="Text 24"/>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28" name="Text 25"/>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RESPONSE TIME</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Network distance sets the floor</a:t>
            </a:r>
            <a:endParaRPr lang="en-US" sz="3600" dirty="0"/>
          </a:p>
        </p:txBody>
      </p:sp>
      <p:sp>
        <p:nvSpPr>
          <p:cNvPr id="5" name="Text 2"/>
          <p:cNvSpPr txBox="1"/>
          <p:nvPr/>
        </p:nvSpPr>
        <p:spPr>
          <a:xfrm>
            <a:off x="812800" y="1943100"/>
            <a:ext cx="6604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Average response time by user base, baseline run</a:t>
            </a:r>
            <a:endParaRPr lang="en-US" sz="1200" dirty="0"/>
          </a:p>
        </p:txBody>
      </p:sp>
      <p:sp>
        <p:nvSpPr>
          <p:cNvPr id="6" name="Text 3"/>
          <p:cNvSpPr txBox="1"/>
          <p:nvPr/>
        </p:nvSpPr>
        <p:spPr>
          <a:xfrm>
            <a:off x="812800" y="2286000"/>
            <a:ext cx="6096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UB1</a:t>
            </a:r>
            <a:endParaRPr lang="en-US" sz="1600" dirty="0"/>
          </a:p>
        </p:txBody>
      </p:sp>
      <p:sp>
        <p:nvSpPr>
          <p:cNvPr id="7" name="Shape 4"/>
          <p:cNvSpPr/>
          <p:nvPr/>
        </p:nvSpPr>
        <p:spPr>
          <a:xfrm>
            <a:off x="1574800" y="2286000"/>
            <a:ext cx="641350" cy="279400"/>
          </a:xfrm>
          <a:prstGeom prst="rect">
            <a:avLst/>
          </a:prstGeom>
          <a:solidFill>
            <a:srgbClr val="2456C7"/>
          </a:solidFill>
          <a:ln/>
        </p:spPr>
        <p:txBody>
          <a:bodyPr/>
          <a:p/>
        </p:txBody>
      </p:sp>
      <p:sp>
        <p:nvSpPr>
          <p:cNvPr id="8" name="Text 5"/>
          <p:cNvSpPr txBox="1"/>
          <p:nvPr/>
        </p:nvSpPr>
        <p:spPr>
          <a:xfrm>
            <a:off x="2368550" y="22860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50.54 ms</a:t>
            </a:r>
            <a:endParaRPr lang="en-US" sz="1600" dirty="0"/>
          </a:p>
        </p:txBody>
      </p:sp>
      <p:sp>
        <p:nvSpPr>
          <p:cNvPr id="9" name="Text 6"/>
          <p:cNvSpPr txBox="1"/>
          <p:nvPr/>
        </p:nvSpPr>
        <p:spPr>
          <a:xfrm>
            <a:off x="812800" y="2692400"/>
            <a:ext cx="6096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UB2</a:t>
            </a:r>
            <a:endParaRPr lang="en-US" sz="1600" dirty="0"/>
          </a:p>
        </p:txBody>
      </p:sp>
      <p:sp>
        <p:nvSpPr>
          <p:cNvPr id="10" name="Shape 7"/>
          <p:cNvSpPr/>
          <p:nvPr/>
        </p:nvSpPr>
        <p:spPr>
          <a:xfrm>
            <a:off x="1574800" y="2692400"/>
            <a:ext cx="641350" cy="279400"/>
          </a:xfrm>
          <a:prstGeom prst="rect">
            <a:avLst/>
          </a:prstGeom>
          <a:solidFill>
            <a:srgbClr val="2456C7"/>
          </a:solidFill>
          <a:ln/>
        </p:spPr>
        <p:txBody>
          <a:bodyPr/>
          <a:p/>
        </p:txBody>
      </p:sp>
      <p:sp>
        <p:nvSpPr>
          <p:cNvPr id="11" name="Text 8"/>
          <p:cNvSpPr txBox="1"/>
          <p:nvPr/>
        </p:nvSpPr>
        <p:spPr>
          <a:xfrm>
            <a:off x="2368550" y="26924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50.52 ms</a:t>
            </a:r>
            <a:endParaRPr lang="en-US" sz="1600" dirty="0"/>
          </a:p>
        </p:txBody>
      </p:sp>
      <p:sp>
        <p:nvSpPr>
          <p:cNvPr id="12" name="Text 9"/>
          <p:cNvSpPr txBox="1"/>
          <p:nvPr/>
        </p:nvSpPr>
        <p:spPr>
          <a:xfrm>
            <a:off x="812800" y="3098800"/>
            <a:ext cx="6096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UB3</a:t>
            </a:r>
            <a:endParaRPr lang="en-US" sz="1600" dirty="0"/>
          </a:p>
        </p:txBody>
      </p:sp>
      <p:sp>
        <p:nvSpPr>
          <p:cNvPr id="13" name="Shape 10"/>
          <p:cNvSpPr/>
          <p:nvPr/>
        </p:nvSpPr>
        <p:spPr>
          <a:xfrm>
            <a:off x="1574800" y="3098800"/>
            <a:ext cx="641350" cy="279400"/>
          </a:xfrm>
          <a:prstGeom prst="rect">
            <a:avLst/>
          </a:prstGeom>
          <a:solidFill>
            <a:srgbClr val="2456C7"/>
          </a:solidFill>
          <a:ln/>
        </p:spPr>
        <p:txBody>
          <a:bodyPr/>
          <a:p/>
        </p:txBody>
      </p:sp>
      <p:sp>
        <p:nvSpPr>
          <p:cNvPr id="14" name="Text 11"/>
          <p:cNvSpPr txBox="1"/>
          <p:nvPr/>
        </p:nvSpPr>
        <p:spPr>
          <a:xfrm>
            <a:off x="2368550" y="30988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50.43 ms</a:t>
            </a:r>
            <a:endParaRPr lang="en-US" sz="1600" dirty="0"/>
          </a:p>
        </p:txBody>
      </p:sp>
      <p:sp>
        <p:nvSpPr>
          <p:cNvPr id="15" name="Text 12"/>
          <p:cNvSpPr txBox="1"/>
          <p:nvPr/>
        </p:nvSpPr>
        <p:spPr>
          <a:xfrm>
            <a:off x="812800" y="3505200"/>
            <a:ext cx="6096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UB4</a:t>
            </a:r>
            <a:endParaRPr lang="en-US" sz="1600" dirty="0"/>
          </a:p>
        </p:txBody>
      </p:sp>
      <p:sp>
        <p:nvSpPr>
          <p:cNvPr id="16" name="Shape 13"/>
          <p:cNvSpPr/>
          <p:nvPr/>
        </p:nvSpPr>
        <p:spPr>
          <a:xfrm>
            <a:off x="1574800" y="3505200"/>
            <a:ext cx="641350" cy="279400"/>
          </a:xfrm>
          <a:prstGeom prst="rect">
            <a:avLst/>
          </a:prstGeom>
          <a:solidFill>
            <a:srgbClr val="2456C7"/>
          </a:solidFill>
          <a:ln/>
        </p:spPr>
        <p:txBody>
          <a:bodyPr/>
          <a:p/>
        </p:txBody>
      </p:sp>
      <p:sp>
        <p:nvSpPr>
          <p:cNvPr id="17" name="Text 14"/>
          <p:cNvSpPr txBox="1"/>
          <p:nvPr/>
        </p:nvSpPr>
        <p:spPr>
          <a:xfrm>
            <a:off x="2368550" y="35052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50.70 ms</a:t>
            </a:r>
            <a:endParaRPr lang="en-US" sz="1600" dirty="0"/>
          </a:p>
        </p:txBody>
      </p:sp>
      <p:sp>
        <p:nvSpPr>
          <p:cNvPr id="18" name="Text 15"/>
          <p:cNvSpPr txBox="1"/>
          <p:nvPr/>
        </p:nvSpPr>
        <p:spPr>
          <a:xfrm>
            <a:off x="812800" y="3911600"/>
            <a:ext cx="6096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UB5</a:t>
            </a:r>
            <a:endParaRPr lang="en-US" sz="1600" dirty="0"/>
          </a:p>
        </p:txBody>
      </p:sp>
      <p:sp>
        <p:nvSpPr>
          <p:cNvPr id="19" name="Shape 16"/>
          <p:cNvSpPr/>
          <p:nvPr/>
        </p:nvSpPr>
        <p:spPr>
          <a:xfrm>
            <a:off x="1574800" y="3911600"/>
            <a:ext cx="3816350" cy="279400"/>
          </a:xfrm>
          <a:prstGeom prst="rect">
            <a:avLst/>
          </a:prstGeom>
          <a:solidFill>
            <a:srgbClr val="B4491A"/>
          </a:solidFill>
          <a:ln/>
        </p:spPr>
        <p:txBody>
          <a:bodyPr/>
          <a:p/>
        </p:txBody>
      </p:sp>
      <p:sp>
        <p:nvSpPr>
          <p:cNvPr id="20" name="Text 17"/>
          <p:cNvSpPr txBox="1"/>
          <p:nvPr/>
        </p:nvSpPr>
        <p:spPr>
          <a:xfrm>
            <a:off x="5543550" y="39116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300.27 ms</a:t>
            </a:r>
            <a:endParaRPr lang="en-US" sz="1600" dirty="0"/>
          </a:p>
        </p:txBody>
      </p:sp>
      <p:sp>
        <p:nvSpPr>
          <p:cNvPr id="21" name="Text 18"/>
          <p:cNvSpPr txBox="1"/>
          <p:nvPr/>
        </p:nvSpPr>
        <p:spPr>
          <a:xfrm>
            <a:off x="812800" y="4318000"/>
            <a:ext cx="6096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UB6</a:t>
            </a:r>
            <a:endParaRPr lang="en-US" sz="1600" dirty="0"/>
          </a:p>
        </p:txBody>
      </p:sp>
      <p:sp>
        <p:nvSpPr>
          <p:cNvPr id="22" name="Shape 19"/>
          <p:cNvSpPr/>
          <p:nvPr/>
        </p:nvSpPr>
        <p:spPr>
          <a:xfrm>
            <a:off x="1574800" y="4318000"/>
            <a:ext cx="641350" cy="279400"/>
          </a:xfrm>
          <a:prstGeom prst="rect">
            <a:avLst/>
          </a:prstGeom>
          <a:solidFill>
            <a:srgbClr val="2456C7"/>
          </a:solidFill>
          <a:ln/>
        </p:spPr>
        <p:txBody>
          <a:bodyPr/>
          <a:p/>
        </p:txBody>
      </p:sp>
      <p:sp>
        <p:nvSpPr>
          <p:cNvPr id="23" name="Text 20"/>
          <p:cNvSpPr txBox="1"/>
          <p:nvPr/>
        </p:nvSpPr>
        <p:spPr>
          <a:xfrm>
            <a:off x="2368550" y="43180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50.70 ms</a:t>
            </a:r>
            <a:endParaRPr lang="en-US" sz="1600" dirty="0"/>
          </a:p>
        </p:txBody>
      </p:sp>
      <p:sp>
        <p:nvSpPr>
          <p:cNvPr id="24" name="Shape 21"/>
          <p:cNvSpPr/>
          <p:nvPr/>
        </p:nvSpPr>
        <p:spPr>
          <a:xfrm>
            <a:off x="1574800" y="4673600"/>
            <a:ext cx="5080000" cy="12700"/>
          </a:xfrm>
          <a:prstGeom prst="rect">
            <a:avLst/>
          </a:prstGeom>
          <a:solidFill>
            <a:srgbClr val="C9CCD1"/>
          </a:solidFill>
          <a:ln/>
        </p:spPr>
        <p:txBody>
          <a:bodyPr/>
          <a:p/>
        </p:txBody>
      </p:sp>
      <p:sp>
        <p:nvSpPr>
          <p:cNvPr id="25" name="Text 22"/>
          <p:cNvSpPr txBox="1"/>
          <p:nvPr/>
        </p:nvSpPr>
        <p:spPr>
          <a:xfrm>
            <a:off x="1574800" y="4749800"/>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 ms</a:t>
            </a:r>
            <a:endParaRPr lang="en-US" sz="1200" dirty="0"/>
          </a:p>
        </p:txBody>
      </p:sp>
      <p:sp>
        <p:nvSpPr>
          <p:cNvPr id="26" name="Text 23"/>
          <p:cNvSpPr txBox="1"/>
          <p:nvPr/>
        </p:nvSpPr>
        <p:spPr>
          <a:xfrm>
            <a:off x="5384800" y="47498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400 ms</a:t>
            </a:r>
            <a:endParaRPr lang="en-US" sz="1200" dirty="0"/>
          </a:p>
        </p:txBody>
      </p:sp>
      <p:sp>
        <p:nvSpPr>
          <p:cNvPr id="27" name="Shape 24"/>
          <p:cNvSpPr/>
          <p:nvPr/>
        </p:nvSpPr>
        <p:spPr>
          <a:xfrm>
            <a:off x="7823200" y="1943100"/>
            <a:ext cx="3556000" cy="25400"/>
          </a:xfrm>
          <a:prstGeom prst="rect">
            <a:avLst/>
          </a:prstGeom>
          <a:solidFill>
            <a:srgbClr val="2456C7"/>
          </a:solidFill>
          <a:ln/>
        </p:spPr>
        <p:txBody>
          <a:bodyPr/>
          <a:p/>
        </p:txBody>
      </p:sp>
      <p:sp>
        <p:nvSpPr>
          <p:cNvPr id="28" name="Text 25"/>
          <p:cNvSpPr txBox="1"/>
          <p:nvPr/>
        </p:nvSpPr>
        <p:spPr>
          <a:xfrm>
            <a:off x="7823200" y="2095500"/>
            <a:ext cx="3556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0.84 ms</a:t>
            </a:r>
            <a:endParaRPr lang="en-US" sz="3600" dirty="0"/>
          </a:p>
        </p:txBody>
      </p:sp>
      <p:sp>
        <p:nvSpPr>
          <p:cNvPr id="29" name="Text 26"/>
          <p:cNvSpPr txBox="1"/>
          <p:nvPr/>
        </p:nvSpPr>
        <p:spPr>
          <a:xfrm>
            <a:off x="7823200" y="2679700"/>
            <a:ext cx="3556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average data-center processing time in the baseline, under 1% of the 92.59 ms total</a:t>
            </a:r>
            <a:endParaRPr lang="en-US" sz="1600" dirty="0"/>
          </a:p>
        </p:txBody>
      </p:sp>
      <p:sp>
        <p:nvSpPr>
          <p:cNvPr id="30" name="Shape 27"/>
          <p:cNvSpPr/>
          <p:nvPr/>
        </p:nvSpPr>
        <p:spPr>
          <a:xfrm>
            <a:off x="7823200" y="3848100"/>
            <a:ext cx="3556000" cy="25400"/>
          </a:xfrm>
          <a:prstGeom prst="rect">
            <a:avLst/>
          </a:prstGeom>
          <a:solidFill>
            <a:srgbClr val="B4491A"/>
          </a:solidFill>
          <a:ln/>
        </p:spPr>
        <p:txBody>
          <a:bodyPr/>
          <a:p/>
        </p:txBody>
      </p:sp>
      <p:sp>
        <p:nvSpPr>
          <p:cNvPr id="31" name="Text 28"/>
          <p:cNvSpPr txBox="1"/>
          <p:nvPr/>
        </p:nvSpPr>
        <p:spPr>
          <a:xfrm>
            <a:off x="7823200" y="4000500"/>
            <a:ext cx="3556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~300 ms</a:t>
            </a:r>
            <a:endParaRPr lang="en-US" sz="3600" dirty="0"/>
          </a:p>
        </p:txBody>
      </p:sp>
      <p:sp>
        <p:nvSpPr>
          <p:cNvPr id="32" name="Text 29"/>
          <p:cNvSpPr txBox="1"/>
          <p:nvPr/>
        </p:nvSpPr>
        <p:spPr>
          <a:xfrm>
            <a:off x="7823200" y="4584700"/>
            <a:ext cx="3556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UB5's average in runs 01–05: a fixed geographic floor that no policy changes</a:t>
            </a:r>
            <a:endParaRPr lang="en-US" sz="1600" dirty="0"/>
          </a:p>
        </p:txBody>
      </p:sp>
      <p:sp>
        <p:nvSpPr>
          <p:cNvPr id="33" name="Text 30"/>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34" name="Text 31"/>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LOAD-BALANCING POLICY</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Policy trades speed for cost</a:t>
            </a:r>
            <a:endParaRPr lang="en-US" sz="3600" dirty="0"/>
          </a:p>
        </p:txBody>
      </p:sp>
      <p:sp>
        <p:nvSpPr>
          <p:cNvPr id="5" name="Shape 2"/>
          <p:cNvSpPr/>
          <p:nvPr/>
        </p:nvSpPr>
        <p:spPr>
          <a:xfrm>
            <a:off x="812800" y="1879600"/>
            <a:ext cx="5181600" cy="3175000"/>
          </a:xfrm>
          <a:prstGeom prst="roundRect">
            <a:avLst>
              <a:gd name="adj" fmla="val 3200"/>
            </a:avLst>
          </a:prstGeom>
          <a:solidFill>
            <a:srgbClr val="FFFFFF"/>
          </a:solidFill>
          <a:ln w="9525">
            <a:solidFill>
              <a:srgbClr val="DEE1E6"/>
            </a:solidFill>
            <a:prstDash val="solid"/>
          </a:ln>
        </p:spPr>
        <p:txBody>
          <a:bodyPr/>
          <a:p/>
        </p:txBody>
      </p:sp>
      <p:sp>
        <p:nvSpPr>
          <p:cNvPr id="6" name="Text 3"/>
          <p:cNvSpPr txBox="1"/>
          <p:nvPr/>
        </p:nvSpPr>
        <p:spPr>
          <a:xfrm>
            <a:off x="1066800" y="2133600"/>
            <a:ext cx="29210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Round Robin</a:t>
            </a:r>
            <a:endParaRPr lang="en-US" sz="2200" dirty="0"/>
          </a:p>
        </p:txBody>
      </p:sp>
      <p:sp>
        <p:nvSpPr>
          <p:cNvPr id="7" name="Text 4"/>
          <p:cNvSpPr txBox="1"/>
          <p:nvPr/>
        </p:nvSpPr>
        <p:spPr>
          <a:xfrm>
            <a:off x="1066800" y="2514600"/>
            <a:ext cx="2921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15 / 5 / 5 / 30 VMs</a:t>
            </a:r>
            <a:endParaRPr lang="en-US" sz="1200" dirty="0"/>
          </a:p>
        </p:txBody>
      </p:sp>
      <p:sp>
        <p:nvSpPr>
          <p:cNvPr id="8" name="Shape 5"/>
          <p:cNvSpPr/>
          <p:nvPr/>
        </p:nvSpPr>
        <p:spPr>
          <a:xfrm>
            <a:off x="4152900" y="2146300"/>
            <a:ext cx="1587500" cy="317500"/>
          </a:xfrm>
          <a:prstGeom prst="roundRect">
            <a:avLst>
              <a:gd name="adj" fmla="val 50000"/>
            </a:avLst>
          </a:prstGeom>
          <a:solidFill>
            <a:srgbClr val="DCE6FA"/>
          </a:solidFill>
          <a:ln/>
        </p:spPr>
        <p:txBody>
          <a:bodyPr/>
          <a:p/>
        </p:txBody>
      </p:sp>
      <p:sp>
        <p:nvSpPr>
          <p:cNvPr id="9" name="Text 6"/>
          <p:cNvSpPr txBox="1"/>
          <p:nvPr/>
        </p:nvSpPr>
        <p:spPr>
          <a:xfrm>
            <a:off x="4152900" y="2146300"/>
            <a:ext cx="1587500" cy="317500"/>
          </a:xfrm>
          <a:prstGeom prst="rect">
            <a:avLst/>
          </a:prstGeom>
          <a:noFill/>
          <a:ln/>
        </p:spPr>
        <p:txBody>
          <a:bodyPr wrap="square" lIns="0" tIns="0" rIns="0" bIns="0" rtlCol="0" anchor="ctr"/>
          <a:lstStyle/>
          <a:p>
            <a:pPr algn="ctr" indent="0" marL="0">
              <a:lnSpc>
                <a:spcPct val="100000"/>
              </a:lnSpc>
              <a:buNone/>
            </a:pPr>
            <a:r>
              <a:rPr lang="en-US" sz="1200" b="1" dirty="0">
                <a:solidFill>
                  <a:srgbClr val="1B3F94"/>
                </a:solidFill>
                <a:latin typeface="Arial" pitchFamily="34" charset="0"/>
                <a:ea typeface="Arial" pitchFamily="34" charset="-122"/>
                <a:cs typeface="Arial" pitchFamily="34" charset="-120"/>
              </a:rPr>
              <a:t>Fastest average</a:t>
            </a:r>
            <a:endParaRPr lang="en-US" sz="1200" dirty="0"/>
          </a:p>
        </p:txBody>
      </p:sp>
      <p:sp>
        <p:nvSpPr>
          <p:cNvPr id="10" name="Shape 7"/>
          <p:cNvSpPr/>
          <p:nvPr/>
        </p:nvSpPr>
        <p:spPr>
          <a:xfrm>
            <a:off x="1066800" y="2895600"/>
            <a:ext cx="4673600" cy="6350"/>
          </a:xfrm>
          <a:prstGeom prst="rect">
            <a:avLst/>
          </a:prstGeom>
          <a:solidFill>
            <a:srgbClr val="DEE1E6"/>
          </a:solidFill>
          <a:ln/>
        </p:spPr>
        <p:txBody>
          <a:bodyPr/>
          <a:p/>
        </p:txBody>
      </p:sp>
      <p:sp>
        <p:nvSpPr>
          <p:cNvPr id="11" name="Text 8"/>
          <p:cNvSpPr txBox="1"/>
          <p:nvPr/>
        </p:nvSpPr>
        <p:spPr>
          <a:xfrm>
            <a:off x="1066800" y="2984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Average response</a:t>
            </a:r>
            <a:endParaRPr lang="en-US" sz="1600" dirty="0"/>
          </a:p>
        </p:txBody>
      </p:sp>
      <p:sp>
        <p:nvSpPr>
          <p:cNvPr id="12" name="Text 9"/>
          <p:cNvSpPr txBox="1"/>
          <p:nvPr/>
        </p:nvSpPr>
        <p:spPr>
          <a:xfrm>
            <a:off x="3733800" y="2984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2456C7"/>
                </a:solidFill>
                <a:latin typeface="Arial" pitchFamily="34" charset="0"/>
                <a:ea typeface="Arial" pitchFamily="34" charset="-122"/>
                <a:cs typeface="Arial" pitchFamily="34" charset="-120"/>
              </a:rPr>
              <a:t>92.59 ms</a:t>
            </a:r>
            <a:endParaRPr lang="en-US" sz="2200" dirty="0"/>
          </a:p>
        </p:txBody>
      </p:sp>
      <p:sp>
        <p:nvSpPr>
          <p:cNvPr id="13" name="Shape 10"/>
          <p:cNvSpPr/>
          <p:nvPr/>
        </p:nvSpPr>
        <p:spPr>
          <a:xfrm>
            <a:off x="1066800" y="3403600"/>
            <a:ext cx="4673600" cy="6350"/>
          </a:xfrm>
          <a:prstGeom prst="rect">
            <a:avLst/>
          </a:prstGeom>
          <a:solidFill>
            <a:srgbClr val="DEE1E6"/>
          </a:solidFill>
          <a:ln/>
        </p:spPr>
        <p:txBody>
          <a:bodyPr/>
          <a:p/>
        </p:txBody>
      </p:sp>
      <p:sp>
        <p:nvSpPr>
          <p:cNvPr id="14" name="Text 11"/>
          <p:cNvSpPr txBox="1"/>
          <p:nvPr/>
        </p:nvSpPr>
        <p:spPr>
          <a:xfrm>
            <a:off x="1066800" y="3492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DC processing, avg</a:t>
            </a:r>
            <a:endParaRPr lang="en-US" sz="1600" dirty="0"/>
          </a:p>
        </p:txBody>
      </p:sp>
      <p:sp>
        <p:nvSpPr>
          <p:cNvPr id="15" name="Text 12"/>
          <p:cNvSpPr txBox="1"/>
          <p:nvPr/>
        </p:nvSpPr>
        <p:spPr>
          <a:xfrm>
            <a:off x="3733800" y="3492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0.84 ms</a:t>
            </a:r>
            <a:endParaRPr lang="en-US" sz="2200" dirty="0"/>
          </a:p>
        </p:txBody>
      </p:sp>
      <p:sp>
        <p:nvSpPr>
          <p:cNvPr id="16" name="Shape 13"/>
          <p:cNvSpPr/>
          <p:nvPr/>
        </p:nvSpPr>
        <p:spPr>
          <a:xfrm>
            <a:off x="1066800" y="3911600"/>
            <a:ext cx="4673600" cy="6350"/>
          </a:xfrm>
          <a:prstGeom prst="rect">
            <a:avLst/>
          </a:prstGeom>
          <a:solidFill>
            <a:srgbClr val="DEE1E6"/>
          </a:solidFill>
          <a:ln/>
        </p:spPr>
        <p:txBody>
          <a:bodyPr/>
          <a:p/>
        </p:txBody>
      </p:sp>
      <p:sp>
        <p:nvSpPr>
          <p:cNvPr id="17" name="Text 14"/>
          <p:cNvSpPr txBox="1"/>
          <p:nvPr/>
        </p:nvSpPr>
        <p:spPr>
          <a:xfrm>
            <a:off x="1066800" y="4000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DC processing, max</a:t>
            </a:r>
            <a:endParaRPr lang="en-US" sz="1600" dirty="0"/>
          </a:p>
        </p:txBody>
      </p:sp>
      <p:sp>
        <p:nvSpPr>
          <p:cNvPr id="18" name="Text 15"/>
          <p:cNvSpPr txBox="1"/>
          <p:nvPr/>
        </p:nvSpPr>
        <p:spPr>
          <a:xfrm>
            <a:off x="3733800" y="4000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3.40 ms</a:t>
            </a:r>
            <a:endParaRPr lang="en-US" sz="2200" dirty="0"/>
          </a:p>
        </p:txBody>
      </p:sp>
      <p:sp>
        <p:nvSpPr>
          <p:cNvPr id="19" name="Shape 16"/>
          <p:cNvSpPr/>
          <p:nvPr/>
        </p:nvSpPr>
        <p:spPr>
          <a:xfrm>
            <a:off x="1066800" y="4419600"/>
            <a:ext cx="4673600" cy="6350"/>
          </a:xfrm>
          <a:prstGeom prst="rect">
            <a:avLst/>
          </a:prstGeom>
          <a:solidFill>
            <a:srgbClr val="DEE1E6"/>
          </a:solidFill>
          <a:ln/>
        </p:spPr>
        <p:txBody>
          <a:bodyPr/>
          <a:p/>
        </p:txBody>
      </p:sp>
      <p:sp>
        <p:nvSpPr>
          <p:cNvPr id="20" name="Text 17"/>
          <p:cNvSpPr txBox="1"/>
          <p:nvPr/>
        </p:nvSpPr>
        <p:spPr>
          <a:xfrm>
            <a:off x="1066800" y="4508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Grand total cost</a:t>
            </a:r>
            <a:endParaRPr lang="en-US" sz="1600" dirty="0"/>
          </a:p>
        </p:txBody>
      </p:sp>
      <p:sp>
        <p:nvSpPr>
          <p:cNvPr id="21" name="Text 18"/>
          <p:cNvSpPr txBox="1"/>
          <p:nvPr/>
        </p:nvSpPr>
        <p:spPr>
          <a:xfrm>
            <a:off x="3733800" y="4508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$161.36</a:t>
            </a:r>
            <a:endParaRPr lang="en-US" sz="2200" dirty="0"/>
          </a:p>
        </p:txBody>
      </p:sp>
      <p:sp>
        <p:nvSpPr>
          <p:cNvPr id="22" name="Shape 19"/>
          <p:cNvSpPr/>
          <p:nvPr/>
        </p:nvSpPr>
        <p:spPr>
          <a:xfrm>
            <a:off x="6197600" y="1879600"/>
            <a:ext cx="5181600" cy="3175000"/>
          </a:xfrm>
          <a:prstGeom prst="roundRect">
            <a:avLst>
              <a:gd name="adj" fmla="val 3200"/>
            </a:avLst>
          </a:prstGeom>
          <a:solidFill>
            <a:srgbClr val="FFFFFF"/>
          </a:solidFill>
          <a:ln w="9525">
            <a:solidFill>
              <a:srgbClr val="DEE1E6"/>
            </a:solidFill>
            <a:prstDash val="solid"/>
          </a:ln>
        </p:spPr>
        <p:txBody>
          <a:bodyPr/>
          <a:p/>
        </p:txBody>
      </p:sp>
      <p:sp>
        <p:nvSpPr>
          <p:cNvPr id="23" name="Text 20"/>
          <p:cNvSpPr txBox="1"/>
          <p:nvPr/>
        </p:nvSpPr>
        <p:spPr>
          <a:xfrm>
            <a:off x="6451600" y="2133600"/>
            <a:ext cx="29210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Throttled</a:t>
            </a:r>
            <a:endParaRPr lang="en-US" sz="2200" dirty="0"/>
          </a:p>
        </p:txBody>
      </p:sp>
      <p:sp>
        <p:nvSpPr>
          <p:cNvPr id="24" name="Text 21"/>
          <p:cNvSpPr txBox="1"/>
          <p:nvPr/>
        </p:nvSpPr>
        <p:spPr>
          <a:xfrm>
            <a:off x="6451600" y="2514600"/>
            <a:ext cx="2921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1 / 1 / 1 / 30 VMs</a:t>
            </a:r>
            <a:endParaRPr lang="en-US" sz="1200" dirty="0"/>
          </a:p>
        </p:txBody>
      </p:sp>
      <p:sp>
        <p:nvSpPr>
          <p:cNvPr id="25" name="Shape 22"/>
          <p:cNvSpPr/>
          <p:nvPr/>
        </p:nvSpPr>
        <p:spPr>
          <a:xfrm>
            <a:off x="9537700" y="2146300"/>
            <a:ext cx="1587500" cy="317500"/>
          </a:xfrm>
          <a:prstGeom prst="roundRect">
            <a:avLst>
              <a:gd name="adj" fmla="val 50000"/>
            </a:avLst>
          </a:prstGeom>
          <a:solidFill>
            <a:srgbClr val="F8E1D3"/>
          </a:solidFill>
          <a:ln/>
        </p:spPr>
        <p:txBody>
          <a:bodyPr/>
          <a:p/>
        </p:txBody>
      </p:sp>
      <p:sp>
        <p:nvSpPr>
          <p:cNvPr id="26" name="Text 23"/>
          <p:cNvSpPr txBox="1"/>
          <p:nvPr/>
        </p:nvSpPr>
        <p:spPr>
          <a:xfrm>
            <a:off x="9537700" y="2146300"/>
            <a:ext cx="1587500" cy="317500"/>
          </a:xfrm>
          <a:prstGeom prst="rect">
            <a:avLst/>
          </a:prstGeom>
          <a:noFill/>
          <a:ln/>
        </p:spPr>
        <p:txBody>
          <a:bodyPr wrap="square" lIns="0" tIns="0" rIns="0" bIns="0" rtlCol="0" anchor="ctr"/>
          <a:lstStyle/>
          <a:p>
            <a:pPr algn="ctr" indent="0" marL="0">
              <a:lnSpc>
                <a:spcPct val="100000"/>
              </a:lnSpc>
              <a:buNone/>
            </a:pPr>
            <a:r>
              <a:rPr lang="en-US" sz="1200" b="1" dirty="0">
                <a:solidFill>
                  <a:srgbClr val="8A3510"/>
                </a:solidFill>
                <a:latin typeface="Arial" pitchFamily="34" charset="0"/>
                <a:ea typeface="Arial" pitchFamily="34" charset="-122"/>
                <a:cs typeface="Arial" pitchFamily="34" charset="-120"/>
              </a:rPr>
              <a:t>Lowest cost</a:t>
            </a:r>
            <a:endParaRPr lang="en-US" sz="1200" dirty="0"/>
          </a:p>
        </p:txBody>
      </p:sp>
      <p:sp>
        <p:nvSpPr>
          <p:cNvPr id="27" name="Shape 24"/>
          <p:cNvSpPr/>
          <p:nvPr/>
        </p:nvSpPr>
        <p:spPr>
          <a:xfrm>
            <a:off x="6451600" y="2895600"/>
            <a:ext cx="4673600" cy="6350"/>
          </a:xfrm>
          <a:prstGeom prst="rect">
            <a:avLst/>
          </a:prstGeom>
          <a:solidFill>
            <a:srgbClr val="DEE1E6"/>
          </a:solidFill>
          <a:ln/>
        </p:spPr>
        <p:txBody>
          <a:bodyPr/>
          <a:p/>
        </p:txBody>
      </p:sp>
      <p:sp>
        <p:nvSpPr>
          <p:cNvPr id="28" name="Text 25"/>
          <p:cNvSpPr txBox="1"/>
          <p:nvPr/>
        </p:nvSpPr>
        <p:spPr>
          <a:xfrm>
            <a:off x="6451600" y="2984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Average response</a:t>
            </a:r>
            <a:endParaRPr lang="en-US" sz="1600" dirty="0"/>
          </a:p>
        </p:txBody>
      </p:sp>
      <p:sp>
        <p:nvSpPr>
          <p:cNvPr id="29" name="Text 26"/>
          <p:cNvSpPr txBox="1"/>
          <p:nvPr/>
        </p:nvSpPr>
        <p:spPr>
          <a:xfrm>
            <a:off x="9118600" y="2984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95.43 ms</a:t>
            </a:r>
            <a:endParaRPr lang="en-US" sz="2200" dirty="0"/>
          </a:p>
        </p:txBody>
      </p:sp>
      <p:sp>
        <p:nvSpPr>
          <p:cNvPr id="30" name="Shape 27"/>
          <p:cNvSpPr/>
          <p:nvPr/>
        </p:nvSpPr>
        <p:spPr>
          <a:xfrm>
            <a:off x="6451600" y="3403600"/>
            <a:ext cx="4673600" cy="6350"/>
          </a:xfrm>
          <a:prstGeom prst="rect">
            <a:avLst/>
          </a:prstGeom>
          <a:solidFill>
            <a:srgbClr val="DEE1E6"/>
          </a:solidFill>
          <a:ln/>
        </p:spPr>
        <p:txBody>
          <a:bodyPr/>
          <a:p/>
        </p:txBody>
      </p:sp>
      <p:sp>
        <p:nvSpPr>
          <p:cNvPr id="31" name="Text 28"/>
          <p:cNvSpPr txBox="1"/>
          <p:nvPr/>
        </p:nvSpPr>
        <p:spPr>
          <a:xfrm>
            <a:off x="6451600" y="3492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DC processing, avg</a:t>
            </a:r>
            <a:endParaRPr lang="en-US" sz="1600" dirty="0"/>
          </a:p>
        </p:txBody>
      </p:sp>
      <p:sp>
        <p:nvSpPr>
          <p:cNvPr id="32" name="Text 29"/>
          <p:cNvSpPr txBox="1"/>
          <p:nvPr/>
        </p:nvSpPr>
        <p:spPr>
          <a:xfrm>
            <a:off x="9118600" y="3492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3.68 ms</a:t>
            </a:r>
            <a:endParaRPr lang="en-US" sz="2200" dirty="0"/>
          </a:p>
        </p:txBody>
      </p:sp>
      <p:sp>
        <p:nvSpPr>
          <p:cNvPr id="33" name="Shape 30"/>
          <p:cNvSpPr/>
          <p:nvPr/>
        </p:nvSpPr>
        <p:spPr>
          <a:xfrm>
            <a:off x="6451600" y="3911600"/>
            <a:ext cx="4673600" cy="6350"/>
          </a:xfrm>
          <a:prstGeom prst="rect">
            <a:avLst/>
          </a:prstGeom>
          <a:solidFill>
            <a:srgbClr val="DEE1E6"/>
          </a:solidFill>
          <a:ln/>
        </p:spPr>
        <p:txBody>
          <a:bodyPr/>
          <a:p/>
        </p:txBody>
      </p:sp>
      <p:sp>
        <p:nvSpPr>
          <p:cNvPr id="34" name="Text 31"/>
          <p:cNvSpPr txBox="1"/>
          <p:nvPr/>
        </p:nvSpPr>
        <p:spPr>
          <a:xfrm>
            <a:off x="6451600" y="4000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DC processing, max</a:t>
            </a:r>
            <a:endParaRPr lang="en-US" sz="1600" dirty="0"/>
          </a:p>
        </p:txBody>
      </p:sp>
      <p:sp>
        <p:nvSpPr>
          <p:cNvPr id="35" name="Text 32"/>
          <p:cNvSpPr txBox="1"/>
          <p:nvPr/>
        </p:nvSpPr>
        <p:spPr>
          <a:xfrm>
            <a:off x="9118600" y="4000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0F1B2D"/>
                </a:solidFill>
                <a:latin typeface="Arial" pitchFamily="34" charset="0"/>
                <a:ea typeface="Arial" pitchFamily="34" charset="-122"/>
                <a:cs typeface="Arial" pitchFamily="34" charset="-120"/>
              </a:rPr>
              <a:t>23.76 ms</a:t>
            </a:r>
            <a:endParaRPr lang="en-US" sz="2200" dirty="0"/>
          </a:p>
        </p:txBody>
      </p:sp>
      <p:sp>
        <p:nvSpPr>
          <p:cNvPr id="36" name="Shape 33"/>
          <p:cNvSpPr/>
          <p:nvPr/>
        </p:nvSpPr>
        <p:spPr>
          <a:xfrm>
            <a:off x="6451600" y="4419600"/>
            <a:ext cx="4673600" cy="6350"/>
          </a:xfrm>
          <a:prstGeom prst="rect">
            <a:avLst/>
          </a:prstGeom>
          <a:solidFill>
            <a:srgbClr val="DEE1E6"/>
          </a:solidFill>
          <a:ln/>
        </p:spPr>
        <p:txBody>
          <a:bodyPr/>
          <a:p/>
        </p:txBody>
      </p:sp>
      <p:sp>
        <p:nvSpPr>
          <p:cNvPr id="37" name="Text 34"/>
          <p:cNvSpPr txBox="1"/>
          <p:nvPr/>
        </p:nvSpPr>
        <p:spPr>
          <a:xfrm>
            <a:off x="6451600" y="4508500"/>
            <a:ext cx="2667000" cy="355600"/>
          </a:xfrm>
          <a:prstGeom prst="rect">
            <a:avLst/>
          </a:prstGeom>
          <a:noFill/>
          <a:ln/>
        </p:spPr>
        <p:txBody>
          <a:bodyPr wrap="square" lIns="0" tIns="0" rIns="0" bIns="0" rtlCol="0" anchor="ctr"/>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Grand total cost</a:t>
            </a:r>
            <a:endParaRPr lang="en-US" sz="1600" dirty="0"/>
          </a:p>
        </p:txBody>
      </p:sp>
      <p:sp>
        <p:nvSpPr>
          <p:cNvPr id="38" name="Text 35"/>
          <p:cNvSpPr txBox="1"/>
          <p:nvPr/>
        </p:nvSpPr>
        <p:spPr>
          <a:xfrm>
            <a:off x="9118600" y="4508500"/>
            <a:ext cx="2006600" cy="355600"/>
          </a:xfrm>
          <a:prstGeom prst="rect">
            <a:avLst/>
          </a:prstGeom>
          <a:noFill/>
          <a:ln/>
        </p:spPr>
        <p:txBody>
          <a:bodyPr wrap="square" lIns="0" tIns="0" rIns="0" bIns="0" rtlCol="0" anchor="ctr"/>
          <a:lstStyle/>
          <a:p>
            <a:pPr algn="r" indent="0" marL="0">
              <a:lnSpc>
                <a:spcPct val="100000"/>
              </a:lnSpc>
              <a:buNone/>
            </a:pPr>
            <a:r>
              <a:rPr lang="en-US" sz="2200" b="1" dirty="0">
                <a:solidFill>
                  <a:srgbClr val="B4491A"/>
                </a:solidFill>
                <a:latin typeface="Arial" pitchFamily="34" charset="0"/>
                <a:ea typeface="Arial" pitchFamily="34" charset="-122"/>
                <a:cs typeface="Arial" pitchFamily="34" charset="-120"/>
              </a:rPr>
              <a:t>$108.56</a:t>
            </a:r>
            <a:endParaRPr lang="en-US" sz="2200" dirty="0"/>
          </a:p>
        </p:txBody>
      </p:sp>
      <p:sp>
        <p:nvSpPr>
          <p:cNvPr id="39" name="Text 36"/>
          <p:cNvSpPr txBox="1"/>
          <p:nvPr/>
        </p:nvSpPr>
        <p:spPr>
          <a:xfrm>
            <a:off x="812800" y="5308600"/>
            <a:ext cx="10566400" cy="304800"/>
          </a:xfrm>
          <a:prstGeom prst="rect">
            <a:avLst/>
          </a:prstGeom>
          <a:noFill/>
          <a:ln/>
        </p:spPr>
        <p:txBody>
          <a:bodyPr wrap="square" lIns="0" tIns="0" rIns="0" bIns="0" rtlCol="0" anchor="t"/>
          <a:lstStyle/>
          <a:p>
            <a:pPr indent="0" marL="0">
              <a:buNone/>
            </a:pPr>
            <a:r>
              <a:rPr lang="en-US" sz="1600" dirty="0">
                <a:solidFill>
                  <a:srgbClr val="4A5568"/>
                </a:solidFill>
                <a:latin typeface="Arial" pitchFamily="34" charset="0"/>
                <a:ea typeface="Arial" pitchFamily="34" charset="-122"/>
                <a:cs typeface="Arial" pitchFamily="34" charset="-120"/>
              </a:rPr>
              <a:t>Throttled saves </a:t>
            </a:r>
            <a:pPr indent="0" marL="0">
              <a:buNone/>
            </a:pPr>
            <a:r>
              <a:rPr lang="en-US" sz="1600" b="1" dirty="0">
                <a:solidFill>
                  <a:srgbClr val="4A5568"/>
                </a:solidFill>
                <a:latin typeface="Arial" pitchFamily="34" charset="0"/>
                <a:ea typeface="Arial" pitchFamily="34" charset="-122"/>
                <a:cs typeface="Arial" pitchFamily="34" charset="-120"/>
              </a:rPr>
              <a:t>$52.80</a:t>
            </a:r>
            <a:pPr indent="0" marL="0">
              <a:buNone/>
            </a:pPr>
            <a:r>
              <a:rPr lang="en-US" sz="1600" dirty="0">
                <a:solidFill>
                  <a:srgbClr val="4A5568"/>
                </a:solidFill>
                <a:latin typeface="Arial" pitchFamily="34" charset="0"/>
                <a:ea typeface="Arial" pitchFamily="34" charset="-122"/>
                <a:cs typeface="Arial" pitchFamily="34" charset="-120"/>
              </a:rPr>
              <a:t> for </a:t>
            </a:r>
            <a:pPr indent="0" marL="0">
              <a:buNone/>
            </a:pPr>
            <a:r>
              <a:rPr lang="en-US" sz="1600" b="1" dirty="0">
                <a:solidFill>
                  <a:srgbClr val="4A5568"/>
                </a:solidFill>
                <a:latin typeface="Arial" pitchFamily="34" charset="0"/>
                <a:ea typeface="Arial" pitchFamily="34" charset="-122"/>
                <a:cs typeface="Arial" pitchFamily="34" charset="-120"/>
              </a:rPr>
              <a:t>2.84 ms</a:t>
            </a:r>
            <a:pPr indent="0" marL="0">
              <a:buNone/>
            </a:pPr>
            <a:r>
              <a:rPr lang="en-US" sz="1600" dirty="0">
                <a:solidFill>
                  <a:srgbClr val="4A5568"/>
                </a:solidFill>
                <a:latin typeface="Arial" pitchFamily="34" charset="0"/>
                <a:ea typeface="Arial" pitchFamily="34" charset="-122"/>
                <a:cs typeface="Arial" pitchFamily="34" charset="-120"/>
              </a:rPr>
              <a:t> more average response: pick by SLA or by budget.</a:t>
            </a:r>
            <a:endParaRPr lang="en-US" sz="1600" dirty="0"/>
          </a:p>
        </p:txBody>
      </p:sp>
      <p:sp>
        <p:nvSpPr>
          <p:cNvPr id="40" name="Text 37"/>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41" name="Text 38"/>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RUN 03 · UNDER-PROVISIONED DC</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Averages hide the tail</a:t>
            </a:r>
            <a:endParaRPr lang="en-US" sz="3600" dirty="0"/>
          </a:p>
        </p:txBody>
      </p:sp>
      <p:sp>
        <p:nvSpPr>
          <p:cNvPr id="5" name="Shape 2"/>
          <p:cNvSpPr/>
          <p:nvPr/>
        </p:nvSpPr>
        <p:spPr>
          <a:xfrm>
            <a:off x="812800" y="2286000"/>
            <a:ext cx="5080000" cy="25400"/>
          </a:xfrm>
          <a:prstGeom prst="rect">
            <a:avLst/>
          </a:prstGeom>
          <a:solidFill>
            <a:srgbClr val="C9CCD1"/>
          </a:solidFill>
          <a:ln/>
        </p:spPr>
        <p:txBody>
          <a:bodyPr/>
          <a:p/>
        </p:txBody>
      </p:sp>
      <p:sp>
        <p:nvSpPr>
          <p:cNvPr id="6" name="Text 3"/>
          <p:cNvSpPr txBox="1"/>
          <p:nvPr/>
        </p:nvSpPr>
        <p:spPr>
          <a:xfrm>
            <a:off x="812800" y="2514600"/>
            <a:ext cx="50800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636B78"/>
                </a:solidFill>
                <a:latin typeface="Arial" pitchFamily="34" charset="0"/>
                <a:ea typeface="Arial" pitchFamily="34" charset="-122"/>
                <a:cs typeface="Arial" pitchFamily="34" charset="-120"/>
              </a:rPr>
              <a:t>AVERAGE RESPONSE</a:t>
            </a:r>
            <a:endParaRPr lang="en-US" sz="1200" dirty="0"/>
          </a:p>
        </p:txBody>
      </p:sp>
      <p:sp>
        <p:nvSpPr>
          <p:cNvPr id="7" name="Text 4"/>
          <p:cNvSpPr txBox="1"/>
          <p:nvPr/>
        </p:nvSpPr>
        <p:spPr>
          <a:xfrm>
            <a:off x="812800" y="2819400"/>
            <a:ext cx="5080000" cy="889000"/>
          </a:xfrm>
          <a:prstGeom prst="rect">
            <a:avLst/>
          </a:prstGeom>
          <a:noFill/>
          <a:ln/>
        </p:spPr>
        <p:txBody>
          <a:bodyPr wrap="square" lIns="0" tIns="0" rIns="0" bIns="0" rtlCol="0" anchor="t"/>
          <a:lstStyle/>
          <a:p>
            <a:pPr algn="l" indent="0" marL="0">
              <a:lnSpc>
                <a:spcPct val="100000"/>
              </a:lnSpc>
              <a:buNone/>
            </a:pPr>
            <a:r>
              <a:rPr lang="en-US" sz="6000" b="1" dirty="0">
                <a:solidFill>
                  <a:srgbClr val="0F1B2D"/>
                </a:solidFill>
                <a:latin typeface="Arial" pitchFamily="34" charset="0"/>
                <a:ea typeface="Arial" pitchFamily="34" charset="-122"/>
                <a:cs typeface="Arial" pitchFamily="34" charset="-120"/>
              </a:rPr>
              <a:t>95.44 ms</a:t>
            </a:r>
            <a:endParaRPr lang="en-US" sz="6000" dirty="0"/>
          </a:p>
        </p:txBody>
      </p:sp>
      <p:sp>
        <p:nvSpPr>
          <p:cNvPr id="8" name="Text 5"/>
          <p:cNvSpPr txBox="1"/>
          <p:nvPr/>
        </p:nvSpPr>
        <p:spPr>
          <a:xfrm>
            <a:off x="812800" y="3810000"/>
            <a:ext cx="5080000" cy="3048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Same as the Throttled run (95.43 ms)</a:t>
            </a:r>
            <a:endParaRPr lang="en-US" sz="1600" dirty="0"/>
          </a:p>
        </p:txBody>
      </p:sp>
      <p:sp>
        <p:nvSpPr>
          <p:cNvPr id="9" name="Shape 6"/>
          <p:cNvSpPr/>
          <p:nvPr/>
        </p:nvSpPr>
        <p:spPr>
          <a:xfrm>
            <a:off x="6299200" y="2286000"/>
            <a:ext cx="5080000" cy="25400"/>
          </a:xfrm>
          <a:prstGeom prst="rect">
            <a:avLst/>
          </a:prstGeom>
          <a:solidFill>
            <a:srgbClr val="B4491A"/>
          </a:solidFill>
          <a:ln/>
        </p:spPr>
        <p:txBody>
          <a:bodyPr/>
          <a:p/>
        </p:txBody>
      </p:sp>
      <p:sp>
        <p:nvSpPr>
          <p:cNvPr id="10" name="Text 7"/>
          <p:cNvSpPr txBox="1"/>
          <p:nvPr/>
        </p:nvSpPr>
        <p:spPr>
          <a:xfrm>
            <a:off x="6299200" y="2514600"/>
            <a:ext cx="50800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636B78"/>
                </a:solidFill>
                <a:latin typeface="Arial" pitchFamily="34" charset="0"/>
                <a:ea typeface="Arial" pitchFamily="34" charset="-122"/>
                <a:cs typeface="Arial" pitchFamily="34" charset="-120"/>
              </a:rPr>
              <a:t>MAXIMUM RESPONSE</a:t>
            </a:r>
            <a:endParaRPr lang="en-US" sz="1200" dirty="0"/>
          </a:p>
        </p:txBody>
      </p:sp>
      <p:sp>
        <p:nvSpPr>
          <p:cNvPr id="11" name="Text 8"/>
          <p:cNvSpPr txBox="1"/>
          <p:nvPr/>
        </p:nvSpPr>
        <p:spPr>
          <a:xfrm>
            <a:off x="6299200" y="2819400"/>
            <a:ext cx="5080000" cy="889000"/>
          </a:xfrm>
          <a:prstGeom prst="rect">
            <a:avLst/>
          </a:prstGeom>
          <a:noFill/>
          <a:ln/>
        </p:spPr>
        <p:txBody>
          <a:bodyPr wrap="square" lIns="0" tIns="0" rIns="0" bIns="0" rtlCol="0" anchor="t"/>
          <a:lstStyle/>
          <a:p>
            <a:pPr algn="l" indent="0" marL="0">
              <a:lnSpc>
                <a:spcPct val="100000"/>
              </a:lnSpc>
              <a:buNone/>
            </a:pPr>
            <a:r>
              <a:rPr lang="en-US" sz="6000" b="1" dirty="0">
                <a:solidFill>
                  <a:srgbClr val="B4491A"/>
                </a:solidFill>
                <a:latin typeface="Arial" pitchFamily="34" charset="0"/>
                <a:ea typeface="Arial" pitchFamily="34" charset="-122"/>
                <a:cs typeface="Arial" pitchFamily="34" charset="-120"/>
              </a:rPr>
              <a:t>552.75 ms</a:t>
            </a:r>
            <a:endParaRPr lang="en-US" sz="6000" dirty="0"/>
          </a:p>
        </p:txBody>
      </p:sp>
      <p:sp>
        <p:nvSpPr>
          <p:cNvPr id="12" name="Text 9"/>
          <p:cNvSpPr txBox="1"/>
          <p:nvPr/>
        </p:nvSpPr>
        <p:spPr>
          <a:xfrm>
            <a:off x="6299200" y="3810000"/>
            <a:ext cx="5080000" cy="3048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About 38% above the Throttled run's 400.88 ms</a:t>
            </a:r>
            <a:endParaRPr lang="en-US" sz="1600" dirty="0"/>
          </a:p>
        </p:txBody>
      </p:sp>
      <p:sp>
        <p:nvSpPr>
          <p:cNvPr id="13" name="Text 10"/>
          <p:cNvSpPr txBox="1"/>
          <p:nvPr/>
        </p:nvSpPr>
        <p:spPr>
          <a:xfrm>
            <a:off x="812800" y="5016500"/>
            <a:ext cx="8890000" cy="635000"/>
          </a:xfrm>
          <a:prstGeom prst="rect">
            <a:avLst/>
          </a:prstGeom>
          <a:noFill/>
          <a:ln/>
        </p:spPr>
        <p:txBody>
          <a:bodyPr wrap="square" lIns="0" tIns="0" rIns="0" bIns="0" rtlCol="0" anchor="t"/>
          <a:lstStyle/>
          <a:p>
            <a:pPr algn="l" indent="0" marL="0">
              <a:lnSpc>
                <a:spcPct val="115000"/>
              </a:lnSpc>
              <a:buNone/>
            </a:pPr>
            <a:r>
              <a:rPr lang="en-US" sz="1600" dirty="0">
                <a:solidFill>
                  <a:srgbClr val="0F1B2D"/>
                </a:solidFill>
                <a:latin typeface="Arial" pitchFamily="34" charset="0"/>
                <a:ea typeface="Arial" pitchFamily="34" charset="-122"/>
                <a:cs typeface="Arial" pitchFamily="34" charset="-120"/>
              </a:rPr>
              <a:t>Under-provisioning barely moves the mean. The damage lands in the tail, which is exactly what SLA-sensitive workloads feel.</a:t>
            </a:r>
            <a:endParaRPr lang="en-US" sz="1600" dirty="0"/>
          </a:p>
        </p:txBody>
      </p:sp>
      <p:sp>
        <p:nvSpPr>
          <p:cNvPr id="14" name="Text 11"/>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15" name="Text 12"/>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RUN 04 · NETWORK LATENCY EDGE CASE</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One weak DC, one slow region</a:t>
            </a:r>
            <a:endParaRPr lang="en-US" sz="3600" dirty="0"/>
          </a:p>
        </p:txBody>
      </p:sp>
      <p:sp>
        <p:nvSpPr>
          <p:cNvPr id="5" name="Text 2"/>
          <p:cNvSpPr txBox="1"/>
          <p:nvPr/>
        </p:nvSpPr>
        <p:spPr>
          <a:xfrm>
            <a:off x="812800" y="1943100"/>
            <a:ext cx="635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Average data-center processing time, run 04</a:t>
            </a:r>
            <a:endParaRPr lang="en-US" sz="1200" dirty="0"/>
          </a:p>
        </p:txBody>
      </p:sp>
      <p:sp>
        <p:nvSpPr>
          <p:cNvPr id="6" name="Text 3"/>
          <p:cNvSpPr txBox="1"/>
          <p:nvPr/>
        </p:nvSpPr>
        <p:spPr>
          <a:xfrm>
            <a:off x="812800" y="22860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DC1 · 20 VMs</a:t>
            </a:r>
            <a:endParaRPr lang="en-US" sz="1600" dirty="0"/>
          </a:p>
        </p:txBody>
      </p:sp>
      <p:sp>
        <p:nvSpPr>
          <p:cNvPr id="7" name="Shape 4"/>
          <p:cNvSpPr/>
          <p:nvPr/>
        </p:nvSpPr>
        <p:spPr>
          <a:xfrm>
            <a:off x="2489200" y="2286000"/>
            <a:ext cx="514350" cy="279400"/>
          </a:xfrm>
          <a:prstGeom prst="rect">
            <a:avLst/>
          </a:prstGeom>
          <a:solidFill>
            <a:srgbClr val="2456C7"/>
          </a:solidFill>
          <a:ln/>
        </p:spPr>
        <p:txBody>
          <a:bodyPr/>
          <a:p/>
        </p:txBody>
      </p:sp>
      <p:sp>
        <p:nvSpPr>
          <p:cNvPr id="8" name="Text 5"/>
          <p:cNvSpPr txBox="1"/>
          <p:nvPr/>
        </p:nvSpPr>
        <p:spPr>
          <a:xfrm>
            <a:off x="3155950" y="22860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1.01 ms</a:t>
            </a:r>
            <a:endParaRPr lang="en-US" sz="1600" dirty="0"/>
          </a:p>
        </p:txBody>
      </p:sp>
      <p:sp>
        <p:nvSpPr>
          <p:cNvPr id="9" name="Text 6"/>
          <p:cNvSpPr txBox="1"/>
          <p:nvPr/>
        </p:nvSpPr>
        <p:spPr>
          <a:xfrm>
            <a:off x="812800" y="26924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DC2 · 1 VM</a:t>
            </a:r>
            <a:endParaRPr lang="en-US" sz="1600" dirty="0"/>
          </a:p>
        </p:txBody>
      </p:sp>
      <p:sp>
        <p:nvSpPr>
          <p:cNvPr id="10" name="Shape 7"/>
          <p:cNvSpPr/>
          <p:nvPr/>
        </p:nvSpPr>
        <p:spPr>
          <a:xfrm>
            <a:off x="2489200" y="2692400"/>
            <a:ext cx="3257550" cy="279400"/>
          </a:xfrm>
          <a:prstGeom prst="rect">
            <a:avLst/>
          </a:prstGeom>
          <a:solidFill>
            <a:srgbClr val="B4491A"/>
          </a:solidFill>
          <a:ln/>
        </p:spPr>
        <p:txBody>
          <a:bodyPr/>
          <a:p/>
        </p:txBody>
      </p:sp>
      <p:sp>
        <p:nvSpPr>
          <p:cNvPr id="11" name="Text 8"/>
          <p:cNvSpPr txBox="1"/>
          <p:nvPr/>
        </p:nvSpPr>
        <p:spPr>
          <a:xfrm>
            <a:off x="5899150" y="26924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6.41 ms</a:t>
            </a:r>
            <a:endParaRPr lang="en-US" sz="1600" dirty="0"/>
          </a:p>
        </p:txBody>
      </p:sp>
      <p:sp>
        <p:nvSpPr>
          <p:cNvPr id="12" name="Text 9"/>
          <p:cNvSpPr txBox="1"/>
          <p:nvPr/>
        </p:nvSpPr>
        <p:spPr>
          <a:xfrm>
            <a:off x="812800" y="30988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DC3 · 20 VMs</a:t>
            </a:r>
            <a:endParaRPr lang="en-US" sz="1600" dirty="0"/>
          </a:p>
        </p:txBody>
      </p:sp>
      <p:sp>
        <p:nvSpPr>
          <p:cNvPr id="13" name="Shape 10"/>
          <p:cNvSpPr/>
          <p:nvPr/>
        </p:nvSpPr>
        <p:spPr>
          <a:xfrm>
            <a:off x="2489200" y="3098800"/>
            <a:ext cx="387350" cy="279400"/>
          </a:xfrm>
          <a:prstGeom prst="rect">
            <a:avLst/>
          </a:prstGeom>
          <a:solidFill>
            <a:srgbClr val="2456C7"/>
          </a:solidFill>
          <a:ln/>
        </p:spPr>
        <p:txBody>
          <a:bodyPr/>
          <a:p/>
        </p:txBody>
      </p:sp>
      <p:sp>
        <p:nvSpPr>
          <p:cNvPr id="14" name="Text 11"/>
          <p:cNvSpPr txBox="1"/>
          <p:nvPr/>
        </p:nvSpPr>
        <p:spPr>
          <a:xfrm>
            <a:off x="3028950" y="30988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0.76 ms</a:t>
            </a:r>
            <a:endParaRPr lang="en-US" sz="1600" dirty="0"/>
          </a:p>
        </p:txBody>
      </p:sp>
      <p:sp>
        <p:nvSpPr>
          <p:cNvPr id="15" name="Text 12"/>
          <p:cNvSpPr txBox="1"/>
          <p:nvPr/>
        </p:nvSpPr>
        <p:spPr>
          <a:xfrm>
            <a:off x="812800" y="35052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DC4 · 20 VMs</a:t>
            </a:r>
            <a:endParaRPr lang="en-US" sz="1600" dirty="0"/>
          </a:p>
        </p:txBody>
      </p:sp>
      <p:sp>
        <p:nvSpPr>
          <p:cNvPr id="16" name="Shape 13"/>
          <p:cNvSpPr/>
          <p:nvPr/>
        </p:nvSpPr>
        <p:spPr>
          <a:xfrm>
            <a:off x="2489200" y="3505200"/>
            <a:ext cx="419100" cy="279400"/>
          </a:xfrm>
          <a:prstGeom prst="rect">
            <a:avLst/>
          </a:prstGeom>
          <a:solidFill>
            <a:srgbClr val="2456C7"/>
          </a:solidFill>
          <a:ln/>
        </p:spPr>
        <p:txBody>
          <a:bodyPr/>
          <a:p/>
        </p:txBody>
      </p:sp>
      <p:sp>
        <p:nvSpPr>
          <p:cNvPr id="17" name="Text 14"/>
          <p:cNvSpPr txBox="1"/>
          <p:nvPr/>
        </p:nvSpPr>
        <p:spPr>
          <a:xfrm>
            <a:off x="3060700" y="35052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0.82 ms</a:t>
            </a:r>
            <a:endParaRPr lang="en-US" sz="1600" dirty="0"/>
          </a:p>
        </p:txBody>
      </p:sp>
      <p:sp>
        <p:nvSpPr>
          <p:cNvPr id="18" name="Shape 15"/>
          <p:cNvSpPr/>
          <p:nvPr/>
        </p:nvSpPr>
        <p:spPr>
          <a:xfrm>
            <a:off x="2489200" y="3860800"/>
            <a:ext cx="4064000" cy="12700"/>
          </a:xfrm>
          <a:prstGeom prst="rect">
            <a:avLst/>
          </a:prstGeom>
          <a:solidFill>
            <a:srgbClr val="C9CCD1"/>
          </a:solidFill>
          <a:ln/>
        </p:spPr>
        <p:txBody>
          <a:bodyPr/>
          <a:p/>
        </p:txBody>
      </p:sp>
      <p:sp>
        <p:nvSpPr>
          <p:cNvPr id="19" name="Text 16"/>
          <p:cNvSpPr txBox="1"/>
          <p:nvPr/>
        </p:nvSpPr>
        <p:spPr>
          <a:xfrm>
            <a:off x="2489200" y="3937000"/>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 ms</a:t>
            </a:r>
            <a:endParaRPr lang="en-US" sz="1200" dirty="0"/>
          </a:p>
        </p:txBody>
      </p:sp>
      <p:sp>
        <p:nvSpPr>
          <p:cNvPr id="20" name="Text 17"/>
          <p:cNvSpPr txBox="1"/>
          <p:nvPr/>
        </p:nvSpPr>
        <p:spPr>
          <a:xfrm>
            <a:off x="5283200" y="39370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8 ms</a:t>
            </a:r>
            <a:endParaRPr lang="en-US" sz="1200" dirty="0"/>
          </a:p>
        </p:txBody>
      </p:sp>
      <p:sp>
        <p:nvSpPr>
          <p:cNvPr id="21" name="Shape 18"/>
          <p:cNvSpPr/>
          <p:nvPr/>
        </p:nvSpPr>
        <p:spPr>
          <a:xfrm>
            <a:off x="7569200" y="1943100"/>
            <a:ext cx="3810000" cy="25400"/>
          </a:xfrm>
          <a:prstGeom prst="rect">
            <a:avLst/>
          </a:prstGeom>
          <a:solidFill>
            <a:srgbClr val="B4491A"/>
          </a:solidFill>
          <a:ln/>
        </p:spPr>
        <p:txBody>
          <a:bodyPr/>
          <a:p/>
        </p:txBody>
      </p:sp>
      <p:sp>
        <p:nvSpPr>
          <p:cNvPr id="22" name="Text 19"/>
          <p:cNvSpPr txBox="1"/>
          <p:nvPr/>
        </p:nvSpPr>
        <p:spPr>
          <a:xfrm>
            <a:off x="7569200" y="2095500"/>
            <a:ext cx="3810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56.11 ms</a:t>
            </a:r>
            <a:endParaRPr lang="en-US" sz="3600" dirty="0"/>
          </a:p>
        </p:txBody>
      </p:sp>
      <p:sp>
        <p:nvSpPr>
          <p:cNvPr id="23" name="Text 20"/>
          <p:cNvSpPr txBox="1"/>
          <p:nvPr/>
        </p:nvSpPr>
        <p:spPr>
          <a:xfrm>
            <a:off x="7569200" y="2679700"/>
            <a:ext cx="3810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UB2's average response, served by DC2, vs about 50.5 ms for UB1, UB3, UB4 and UB6</a:t>
            </a:r>
            <a:endParaRPr lang="en-US" sz="1600" dirty="0"/>
          </a:p>
        </p:txBody>
      </p:sp>
      <p:sp>
        <p:nvSpPr>
          <p:cNvPr id="24" name="Text 21"/>
          <p:cNvSpPr txBox="1"/>
          <p:nvPr/>
        </p:nvSpPr>
        <p:spPr>
          <a:xfrm>
            <a:off x="7569200" y="3937000"/>
            <a:ext cx="3810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Provisioning, not policy</a:t>
            </a:r>
            <a:endParaRPr lang="en-US" sz="2200" dirty="0"/>
          </a:p>
        </p:txBody>
      </p:sp>
      <p:sp>
        <p:nvSpPr>
          <p:cNvPr id="25" name="Text 22"/>
          <p:cNvSpPr txBox="1"/>
          <p:nvPr/>
        </p:nvSpPr>
        <p:spPr>
          <a:xfrm>
            <a:off x="7569200" y="4368800"/>
            <a:ext cx="3810000" cy="635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Load balancing cannot make up for a region that lacks capacity.</a:t>
            </a:r>
            <a:endParaRPr lang="en-US" sz="1600" dirty="0"/>
          </a:p>
        </p:txBody>
      </p:sp>
      <p:sp>
        <p:nvSpPr>
          <p:cNvPr id="26" name="Text 23"/>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27" name="Text 24"/>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COST</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Data transfer drives the bill</a:t>
            </a:r>
            <a:endParaRPr lang="en-US" sz="3600" dirty="0"/>
          </a:p>
        </p:txBody>
      </p:sp>
      <p:sp>
        <p:nvSpPr>
          <p:cNvPr id="5" name="Text 2"/>
          <p:cNvSpPr txBox="1"/>
          <p:nvPr/>
        </p:nvSpPr>
        <p:spPr>
          <a:xfrm>
            <a:off x="812800" y="1943100"/>
            <a:ext cx="1905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Total cost per run</a:t>
            </a:r>
            <a:endParaRPr lang="en-US" sz="1200" dirty="0"/>
          </a:p>
        </p:txBody>
      </p:sp>
      <p:sp>
        <p:nvSpPr>
          <p:cNvPr id="6" name="Shape 3"/>
          <p:cNvSpPr/>
          <p:nvPr/>
        </p:nvSpPr>
        <p:spPr>
          <a:xfrm>
            <a:off x="2794000" y="1974850"/>
            <a:ext cx="152400" cy="152400"/>
          </a:xfrm>
          <a:prstGeom prst="rect">
            <a:avLst/>
          </a:prstGeom>
          <a:solidFill>
            <a:srgbClr val="2456C7"/>
          </a:solidFill>
          <a:ln/>
        </p:spPr>
        <p:txBody>
          <a:bodyPr/>
          <a:p/>
        </p:txBody>
      </p:sp>
      <p:sp>
        <p:nvSpPr>
          <p:cNvPr id="7" name="Text 4"/>
          <p:cNvSpPr txBox="1"/>
          <p:nvPr/>
        </p:nvSpPr>
        <p:spPr>
          <a:xfrm>
            <a:off x="3022600" y="1943100"/>
            <a:ext cx="1651000" cy="215900"/>
          </a:xfrm>
          <a:prstGeom prst="rect">
            <a:avLst/>
          </a:prstGeom>
          <a:noFill/>
          <a:ln/>
        </p:spPr>
        <p:txBody>
          <a:bodyPr wrap="square" lIns="0" tIns="0" rIns="0" bIns="0" rtlCol="0" anchor="t"/>
          <a:lstStyle/>
          <a:p>
            <a:pPr algn="l" indent="0" marL="0">
              <a:lnSpc>
                <a:spcPct val="100000"/>
              </a:lnSpc>
              <a:buNone/>
            </a:pPr>
            <a:r>
              <a:rPr lang="en-US" sz="1200" dirty="0">
                <a:solidFill>
                  <a:srgbClr val="4A5568"/>
                </a:solidFill>
                <a:latin typeface="Arial" pitchFamily="34" charset="0"/>
                <a:ea typeface="Arial" pitchFamily="34" charset="-122"/>
                <a:cs typeface="Arial" pitchFamily="34" charset="-120"/>
              </a:rPr>
              <a:t>VM cost</a:t>
            </a:r>
            <a:endParaRPr lang="en-US" sz="1200" dirty="0"/>
          </a:p>
        </p:txBody>
      </p:sp>
      <p:sp>
        <p:nvSpPr>
          <p:cNvPr id="8" name="Shape 5"/>
          <p:cNvSpPr/>
          <p:nvPr/>
        </p:nvSpPr>
        <p:spPr>
          <a:xfrm>
            <a:off x="4064000" y="1974850"/>
            <a:ext cx="152400" cy="152400"/>
          </a:xfrm>
          <a:prstGeom prst="rect">
            <a:avLst/>
          </a:prstGeom>
          <a:solidFill>
            <a:srgbClr val="B4491A"/>
          </a:solidFill>
          <a:ln/>
        </p:spPr>
        <p:txBody>
          <a:bodyPr/>
          <a:p/>
        </p:txBody>
      </p:sp>
      <p:sp>
        <p:nvSpPr>
          <p:cNvPr id="9" name="Text 6"/>
          <p:cNvSpPr txBox="1"/>
          <p:nvPr/>
        </p:nvSpPr>
        <p:spPr>
          <a:xfrm>
            <a:off x="4292600" y="1943100"/>
            <a:ext cx="1651000" cy="215900"/>
          </a:xfrm>
          <a:prstGeom prst="rect">
            <a:avLst/>
          </a:prstGeom>
          <a:noFill/>
          <a:ln/>
        </p:spPr>
        <p:txBody>
          <a:bodyPr wrap="square" lIns="0" tIns="0" rIns="0" bIns="0" rtlCol="0" anchor="t"/>
          <a:lstStyle/>
          <a:p>
            <a:pPr algn="l" indent="0" marL="0">
              <a:lnSpc>
                <a:spcPct val="100000"/>
              </a:lnSpc>
              <a:buNone/>
            </a:pPr>
            <a:r>
              <a:rPr lang="en-US" sz="1200" dirty="0">
                <a:solidFill>
                  <a:srgbClr val="4A5568"/>
                </a:solidFill>
                <a:latin typeface="Arial" pitchFamily="34" charset="0"/>
                <a:ea typeface="Arial" pitchFamily="34" charset="-122"/>
                <a:cs typeface="Arial" pitchFamily="34" charset="-120"/>
              </a:rPr>
              <a:t>Data transfer cost</a:t>
            </a:r>
            <a:endParaRPr lang="en-US" sz="1200" dirty="0"/>
          </a:p>
        </p:txBody>
      </p:sp>
      <p:sp>
        <p:nvSpPr>
          <p:cNvPr id="10" name="Text 7"/>
          <p:cNvSpPr txBox="1"/>
          <p:nvPr/>
        </p:nvSpPr>
        <p:spPr>
          <a:xfrm>
            <a:off x="812800" y="2349500"/>
            <a:ext cx="2159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Round Robin</a:t>
            </a:r>
            <a:endParaRPr lang="en-US" sz="1600" dirty="0"/>
          </a:p>
        </p:txBody>
      </p:sp>
      <p:sp>
        <p:nvSpPr>
          <p:cNvPr id="11" name="Shape 8"/>
          <p:cNvSpPr/>
          <p:nvPr/>
        </p:nvSpPr>
        <p:spPr>
          <a:xfrm>
            <a:off x="3124200" y="2349500"/>
            <a:ext cx="393700" cy="279400"/>
          </a:xfrm>
          <a:prstGeom prst="rect">
            <a:avLst/>
          </a:prstGeom>
          <a:solidFill>
            <a:srgbClr val="2456C7"/>
          </a:solidFill>
          <a:ln/>
        </p:spPr>
        <p:txBody>
          <a:bodyPr/>
          <a:p/>
        </p:txBody>
      </p:sp>
      <p:sp>
        <p:nvSpPr>
          <p:cNvPr id="12" name="Shape 9"/>
          <p:cNvSpPr/>
          <p:nvPr/>
        </p:nvSpPr>
        <p:spPr>
          <a:xfrm>
            <a:off x="3530600" y="2349500"/>
            <a:ext cx="88900" cy="279400"/>
          </a:xfrm>
          <a:prstGeom prst="rect">
            <a:avLst/>
          </a:prstGeom>
          <a:solidFill>
            <a:srgbClr val="B4491A"/>
          </a:solidFill>
          <a:ln/>
        </p:spPr>
        <p:txBody>
          <a:bodyPr/>
          <a:p/>
        </p:txBody>
      </p:sp>
      <p:sp>
        <p:nvSpPr>
          <p:cNvPr id="13" name="Text 10"/>
          <p:cNvSpPr txBox="1"/>
          <p:nvPr/>
        </p:nvSpPr>
        <p:spPr>
          <a:xfrm>
            <a:off x="3771900" y="23495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$161.36</a:t>
            </a:r>
            <a:endParaRPr lang="en-US" sz="1600" dirty="0"/>
          </a:p>
        </p:txBody>
      </p:sp>
      <p:sp>
        <p:nvSpPr>
          <p:cNvPr id="14" name="Text 11"/>
          <p:cNvSpPr txBox="1"/>
          <p:nvPr/>
        </p:nvSpPr>
        <p:spPr>
          <a:xfrm>
            <a:off x="812800" y="2755900"/>
            <a:ext cx="2159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Throttled</a:t>
            </a:r>
            <a:endParaRPr lang="en-US" sz="1600" dirty="0"/>
          </a:p>
        </p:txBody>
      </p:sp>
      <p:sp>
        <p:nvSpPr>
          <p:cNvPr id="41" name="Text 38"/>
          <p:cNvSpPr txBox="1"/>
          <p:nvPr/>
        </p:nvSpPr>
        <p:spPr>
          <a:xfrm>
            <a:off x="812800" y="4384548"/>
            <a:ext cx="2159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Equally Spread</a:t>
            </a:r>
            <a:endParaRPr lang="en-US" sz="1600" dirty="0"/>
          </a:p>
        </p:txBody>
      </p:sp>
      <p:sp>
        <p:nvSpPr>
          <p:cNvPr id="15" name="Shape 12"/>
          <p:cNvSpPr/>
          <p:nvPr/>
        </p:nvSpPr>
        <p:spPr>
          <a:xfrm>
            <a:off x="3124200" y="2755900"/>
            <a:ext cx="234950" cy="279400"/>
          </a:xfrm>
          <a:prstGeom prst="rect">
            <a:avLst/>
          </a:prstGeom>
          <a:solidFill>
            <a:srgbClr val="2456C7"/>
          </a:solidFill>
          <a:ln/>
        </p:spPr>
        <p:txBody>
          <a:bodyPr/>
          <a:p/>
        </p:txBody>
      </p:sp>
      <p:sp>
        <p:nvSpPr>
          <p:cNvPr id="42" name="Shape 39"/>
          <p:cNvSpPr/>
          <p:nvPr/>
        </p:nvSpPr>
        <p:spPr>
          <a:xfrm>
            <a:off x="3127248" y="4384548"/>
            <a:ext cx="206336" cy="279400"/>
          </a:xfrm>
          <a:prstGeom prst="rect">
            <a:avLst/>
          </a:prstGeom>
          <a:solidFill>
            <a:srgbClr val="2456C7"/>
          </a:solidFill>
          <a:ln/>
        </p:spPr>
        <p:txBody>
          <a:bodyPr/>
          <a:p/>
        </p:txBody>
      </p:sp>
      <p:sp>
        <p:nvSpPr>
          <p:cNvPr id="16" name="Shape 13"/>
          <p:cNvSpPr/>
          <p:nvPr/>
        </p:nvSpPr>
        <p:spPr>
          <a:xfrm>
            <a:off x="3371850" y="2755900"/>
            <a:ext cx="88900" cy="279400"/>
          </a:xfrm>
          <a:prstGeom prst="rect">
            <a:avLst/>
          </a:prstGeom>
          <a:solidFill>
            <a:srgbClr val="B4491A"/>
          </a:solidFill>
          <a:ln/>
        </p:spPr>
        <p:txBody>
          <a:bodyPr/>
          <a:p/>
        </p:txBody>
      </p:sp>
      <p:sp>
        <p:nvSpPr>
          <p:cNvPr id="43" name="Shape 40"/>
          <p:cNvSpPr/>
          <p:nvPr/>
        </p:nvSpPr>
        <p:spPr>
          <a:xfrm>
            <a:off x="3342728" y="4384548"/>
            <a:ext cx="101493" cy="279400"/>
          </a:xfrm>
          <a:prstGeom prst="rect">
            <a:avLst/>
          </a:prstGeom>
          <a:solidFill>
            <a:srgbClr val="B4491A"/>
          </a:solidFill>
          <a:ln/>
        </p:spPr>
        <p:txBody>
          <a:bodyPr/>
          <a:p/>
        </p:txBody>
      </p:sp>
      <p:sp>
        <p:nvSpPr>
          <p:cNvPr id="17" name="Text 14"/>
          <p:cNvSpPr txBox="1"/>
          <p:nvPr/>
        </p:nvSpPr>
        <p:spPr>
          <a:xfrm>
            <a:off x="3613150" y="27559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$108.56</a:t>
            </a:r>
            <a:endParaRPr lang="en-US" sz="1600" dirty="0"/>
          </a:p>
        </p:txBody>
      </p:sp>
      <p:sp>
        <p:nvSpPr>
          <p:cNvPr id="44" name="Text 41"/>
          <p:cNvSpPr txBox="1"/>
          <p:nvPr/>
        </p:nvSpPr>
        <p:spPr>
          <a:xfrm>
            <a:off x="3590526" y="4384548"/>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$103.85</a:t>
            </a:r>
            <a:endParaRPr lang="en-US" sz="1600" dirty="0"/>
          </a:p>
        </p:txBody>
      </p:sp>
      <p:sp>
        <p:nvSpPr>
          <p:cNvPr id="18" name="Text 15"/>
          <p:cNvSpPr txBox="1"/>
          <p:nvPr/>
        </p:nvSpPr>
        <p:spPr>
          <a:xfrm>
            <a:off x="812800" y="3162300"/>
            <a:ext cx="2159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Under-provisioned</a:t>
            </a:r>
            <a:endParaRPr lang="en-US" sz="1600" dirty="0"/>
          </a:p>
        </p:txBody>
      </p:sp>
      <p:sp>
        <p:nvSpPr>
          <p:cNvPr id="19" name="Shape 16"/>
          <p:cNvSpPr/>
          <p:nvPr/>
        </p:nvSpPr>
        <p:spPr>
          <a:xfrm>
            <a:off x="3124200" y="3162300"/>
            <a:ext cx="234950" cy="279400"/>
          </a:xfrm>
          <a:prstGeom prst="rect">
            <a:avLst/>
          </a:prstGeom>
          <a:solidFill>
            <a:srgbClr val="2456C7"/>
          </a:solidFill>
          <a:ln/>
        </p:spPr>
        <p:txBody>
          <a:bodyPr/>
          <a:p/>
        </p:txBody>
      </p:sp>
      <p:sp>
        <p:nvSpPr>
          <p:cNvPr id="20" name="Shape 17"/>
          <p:cNvSpPr/>
          <p:nvPr/>
        </p:nvSpPr>
        <p:spPr>
          <a:xfrm>
            <a:off x="3371850" y="3162300"/>
            <a:ext cx="88900" cy="279400"/>
          </a:xfrm>
          <a:prstGeom prst="rect">
            <a:avLst/>
          </a:prstGeom>
          <a:solidFill>
            <a:srgbClr val="B4491A"/>
          </a:solidFill>
          <a:ln/>
        </p:spPr>
        <p:txBody>
          <a:bodyPr/>
          <a:p/>
        </p:txBody>
      </p:sp>
      <p:sp>
        <p:nvSpPr>
          <p:cNvPr id="21" name="Text 18"/>
          <p:cNvSpPr txBox="1"/>
          <p:nvPr/>
        </p:nvSpPr>
        <p:spPr>
          <a:xfrm>
            <a:off x="3613150" y="31623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$108.56</a:t>
            </a:r>
            <a:endParaRPr lang="en-US" sz="1600" dirty="0"/>
          </a:p>
        </p:txBody>
      </p:sp>
      <p:sp>
        <p:nvSpPr>
          <p:cNvPr id="22" name="Text 19"/>
          <p:cNvSpPr txBox="1"/>
          <p:nvPr/>
        </p:nvSpPr>
        <p:spPr>
          <a:xfrm>
            <a:off x="812800" y="3568700"/>
            <a:ext cx="2159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Network edge case</a:t>
            </a:r>
            <a:endParaRPr lang="en-US" sz="1600" dirty="0"/>
          </a:p>
        </p:txBody>
      </p:sp>
      <p:sp>
        <p:nvSpPr>
          <p:cNvPr id="23" name="Shape 20"/>
          <p:cNvSpPr/>
          <p:nvPr/>
        </p:nvSpPr>
        <p:spPr>
          <a:xfrm>
            <a:off x="3124200" y="3568700"/>
            <a:ext cx="431800" cy="279400"/>
          </a:xfrm>
          <a:prstGeom prst="rect">
            <a:avLst/>
          </a:prstGeom>
          <a:solidFill>
            <a:srgbClr val="2456C7"/>
          </a:solidFill>
          <a:ln/>
        </p:spPr>
        <p:txBody>
          <a:bodyPr/>
          <a:p/>
        </p:txBody>
      </p:sp>
      <p:sp>
        <p:nvSpPr>
          <p:cNvPr id="24" name="Shape 21"/>
          <p:cNvSpPr/>
          <p:nvPr/>
        </p:nvSpPr>
        <p:spPr>
          <a:xfrm>
            <a:off x="3568700" y="3568700"/>
            <a:ext cx="88900" cy="279400"/>
          </a:xfrm>
          <a:prstGeom prst="rect">
            <a:avLst/>
          </a:prstGeom>
          <a:solidFill>
            <a:srgbClr val="B4491A"/>
          </a:solidFill>
          <a:ln/>
        </p:spPr>
        <p:txBody>
          <a:bodyPr/>
          <a:p/>
        </p:txBody>
      </p:sp>
      <p:sp>
        <p:nvSpPr>
          <p:cNvPr id="25" name="Text 22"/>
          <p:cNvSpPr txBox="1"/>
          <p:nvPr/>
        </p:nvSpPr>
        <p:spPr>
          <a:xfrm>
            <a:off x="3810000" y="3568700"/>
            <a:ext cx="1524000" cy="279400"/>
          </a:xfrm>
          <a:prstGeom prst="rect">
            <a:avLst/>
          </a:prstGeom>
          <a:noFill/>
          <a:ln/>
        </p:spPr>
        <p:txBody>
          <a:bodyPr wrap="square" lIns="0" tIns="0" rIns="0" bIns="0" rtlCol="0" anchor="ctr"/>
          <a:lstStyle/>
          <a:p>
            <a:pPr algn="l" indent="0" marL="0">
              <a:lnSpc>
                <a:spcPct val="100000"/>
              </a:lnSpc>
              <a:buNone/>
            </a:pPr>
            <a:r>
              <a:rPr lang="en-US" sz="1600" dirty="0">
                <a:solidFill>
                  <a:srgbClr val="0F1B2D"/>
                </a:solidFill>
                <a:latin typeface="Arial" pitchFamily="34" charset="0"/>
                <a:ea typeface="Arial" pitchFamily="34" charset="-122"/>
                <a:cs typeface="Arial" pitchFamily="34" charset="-120"/>
              </a:rPr>
              <a:t>$175.76</a:t>
            </a:r>
            <a:endParaRPr lang="en-US" sz="1600" dirty="0"/>
          </a:p>
        </p:txBody>
      </p:sp>
      <p:sp>
        <p:nvSpPr>
          <p:cNvPr id="26" name="Text 23"/>
          <p:cNvSpPr txBox="1"/>
          <p:nvPr/>
        </p:nvSpPr>
        <p:spPr>
          <a:xfrm>
            <a:off x="812800" y="3975100"/>
            <a:ext cx="2159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Cost-sensitive</a:t>
            </a:r>
            <a:endParaRPr lang="en-US" sz="1600" dirty="0"/>
          </a:p>
        </p:txBody>
      </p:sp>
      <p:sp>
        <p:nvSpPr>
          <p:cNvPr id="27" name="Shape 24"/>
          <p:cNvSpPr/>
          <p:nvPr/>
        </p:nvSpPr>
        <p:spPr>
          <a:xfrm>
            <a:off x="3124200" y="3975100"/>
            <a:ext cx="463550" cy="279400"/>
          </a:xfrm>
          <a:prstGeom prst="rect">
            <a:avLst/>
          </a:prstGeom>
          <a:solidFill>
            <a:srgbClr val="2456C7"/>
          </a:solidFill>
          <a:ln/>
        </p:spPr>
        <p:txBody>
          <a:bodyPr/>
          <a:p/>
        </p:txBody>
      </p:sp>
      <p:sp>
        <p:nvSpPr>
          <p:cNvPr id="28" name="Shape 25"/>
          <p:cNvSpPr/>
          <p:nvPr/>
        </p:nvSpPr>
        <p:spPr>
          <a:xfrm>
            <a:off x="3600450" y="3975100"/>
            <a:ext cx="2965450" cy="279400"/>
          </a:xfrm>
          <a:prstGeom prst="rect">
            <a:avLst/>
          </a:prstGeom>
          <a:solidFill>
            <a:srgbClr val="B4491A"/>
          </a:solidFill>
          <a:ln/>
        </p:spPr>
        <p:txBody>
          <a:bodyPr/>
          <a:p/>
        </p:txBody>
      </p:sp>
      <p:sp>
        <p:nvSpPr>
          <p:cNvPr id="29" name="Text 26"/>
          <p:cNvSpPr txBox="1"/>
          <p:nvPr/>
        </p:nvSpPr>
        <p:spPr>
          <a:xfrm>
            <a:off x="6718300" y="3975100"/>
            <a:ext cx="1524000" cy="279400"/>
          </a:xfrm>
          <a:prstGeom prst="rect">
            <a:avLst/>
          </a:prstGeom>
          <a:noFill/>
          <a:ln/>
        </p:spPr>
        <p:txBody>
          <a:bodyPr wrap="square" lIns="0" tIns="0" rIns="0" bIns="0" rtlCol="0" anchor="ctr"/>
          <a:lstStyle/>
          <a:p>
            <a:pPr algn="l" indent="0" marL="0">
              <a:lnSpc>
                <a:spcPct val="100000"/>
              </a:lnSpc>
              <a:buNone/>
            </a:pPr>
            <a:r>
              <a:rPr lang="en-US" sz="1600" b="1" dirty="0">
                <a:solidFill>
                  <a:srgbClr val="0F1B2D"/>
                </a:solidFill>
                <a:latin typeface="Arial" pitchFamily="34" charset="0"/>
                <a:ea typeface="Arial" pitchFamily="34" charset="-122"/>
                <a:cs typeface="Arial" pitchFamily="34" charset="-120"/>
              </a:rPr>
              <a:t>$1,157.59</a:t>
            </a:r>
            <a:endParaRPr lang="en-US" sz="1600" dirty="0"/>
          </a:p>
        </p:txBody>
      </p:sp>
      <p:sp>
        <p:nvSpPr>
          <p:cNvPr id="30" name="Shape 27"/>
          <p:cNvSpPr/>
          <p:nvPr/>
        </p:nvSpPr>
        <p:spPr>
          <a:xfrm>
            <a:off x="3124200" y="4741164"/>
            <a:ext cx="3556000" cy="12700"/>
          </a:xfrm>
          <a:prstGeom prst="rect">
            <a:avLst/>
          </a:prstGeom>
          <a:solidFill>
            <a:srgbClr val="C9CCD1"/>
          </a:solidFill>
          <a:ln/>
        </p:spPr>
        <p:txBody>
          <a:bodyPr/>
          <a:p/>
        </p:txBody>
      </p:sp>
      <p:sp>
        <p:nvSpPr>
          <p:cNvPr id="31" name="Text 28"/>
          <p:cNvSpPr txBox="1"/>
          <p:nvPr/>
        </p:nvSpPr>
        <p:spPr>
          <a:xfrm>
            <a:off x="3124200" y="4814316"/>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a:t>
            </a:r>
            <a:endParaRPr lang="en-US" sz="1200" dirty="0"/>
          </a:p>
        </p:txBody>
      </p:sp>
      <p:sp>
        <p:nvSpPr>
          <p:cNvPr id="32" name="Text 29"/>
          <p:cNvSpPr txBox="1"/>
          <p:nvPr/>
        </p:nvSpPr>
        <p:spPr>
          <a:xfrm>
            <a:off x="5410200" y="4814316"/>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$1,200</a:t>
            </a:r>
            <a:endParaRPr lang="en-US" sz="1200" dirty="0"/>
          </a:p>
        </p:txBody>
      </p:sp>
      <p:sp>
        <p:nvSpPr>
          <p:cNvPr id="33" name="Shape 30"/>
          <p:cNvSpPr/>
          <p:nvPr/>
        </p:nvSpPr>
        <p:spPr>
          <a:xfrm>
            <a:off x="8204200" y="1943100"/>
            <a:ext cx="3175000" cy="25400"/>
          </a:xfrm>
          <a:prstGeom prst="rect">
            <a:avLst/>
          </a:prstGeom>
          <a:solidFill>
            <a:srgbClr val="B4491A"/>
          </a:solidFill>
          <a:ln/>
        </p:spPr>
        <p:txBody>
          <a:bodyPr/>
          <a:p/>
        </p:txBody>
      </p:sp>
      <p:sp>
        <p:nvSpPr>
          <p:cNvPr id="34" name="Text 31"/>
          <p:cNvSpPr txBox="1"/>
          <p:nvPr/>
        </p:nvSpPr>
        <p:spPr>
          <a:xfrm>
            <a:off x="8204200" y="2095500"/>
            <a:ext cx="3175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$1,157.59</a:t>
            </a:r>
            <a:endParaRPr lang="en-US" sz="3600" dirty="0"/>
          </a:p>
        </p:txBody>
      </p:sp>
      <p:sp>
        <p:nvSpPr>
          <p:cNvPr id="35" name="Text 32"/>
          <p:cNvSpPr txBox="1"/>
          <p:nvPr/>
        </p:nvSpPr>
        <p:spPr>
          <a:xfrm>
            <a:off x="8204200" y="2679700"/>
            <a:ext cx="3175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cost-sensitive grand total, about 7× the $161.36 baseline</a:t>
            </a:r>
            <a:endParaRPr lang="en-US" sz="1600" dirty="0"/>
          </a:p>
        </p:txBody>
      </p:sp>
      <p:sp>
        <p:nvSpPr>
          <p:cNvPr id="36" name="Shape 33"/>
          <p:cNvSpPr/>
          <p:nvPr/>
        </p:nvSpPr>
        <p:spPr>
          <a:xfrm>
            <a:off x="8204200" y="3848100"/>
            <a:ext cx="3175000" cy="25400"/>
          </a:xfrm>
          <a:prstGeom prst="rect">
            <a:avLst/>
          </a:prstGeom>
          <a:solidFill>
            <a:srgbClr val="B4491A"/>
          </a:solidFill>
          <a:ln/>
        </p:spPr>
        <p:txBody>
          <a:bodyPr/>
          <a:p/>
        </p:txBody>
      </p:sp>
      <p:sp>
        <p:nvSpPr>
          <p:cNvPr id="37" name="Text 34"/>
          <p:cNvSpPr txBox="1"/>
          <p:nvPr/>
        </p:nvSpPr>
        <p:spPr>
          <a:xfrm>
            <a:off x="8204200" y="4000500"/>
            <a:ext cx="3175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$1,001.58</a:t>
            </a:r>
            <a:endParaRPr lang="en-US" sz="3600" dirty="0"/>
          </a:p>
        </p:txBody>
      </p:sp>
      <p:sp>
        <p:nvSpPr>
          <p:cNvPr id="38" name="Text 35"/>
          <p:cNvSpPr txBox="1"/>
          <p:nvPr/>
        </p:nvSpPr>
        <p:spPr>
          <a:xfrm>
            <a:off x="8204200" y="4584700"/>
            <a:ext cx="3175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of that is data transfer, and $981.99 of it lands at DC3</a:t>
            </a:r>
            <a:endParaRPr lang="en-US" sz="1600" dirty="0"/>
          </a:p>
        </p:txBody>
      </p:sp>
      <p:sp>
        <p:nvSpPr>
          <p:cNvPr id="39" name="Text 36"/>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40" name="Text 37"/>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09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RUN 06 · EQUALLY SPREAD CURRENT EXECUTION LOAD</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Distance sets each region's response</a:t>
            </a:r>
            <a:endParaRPr lang="en-US" sz="3600" dirty="0"/>
          </a:p>
        </p:txBody>
      </p:sp>
      <p:sp>
        <p:nvSpPr>
          <p:cNvPr id="5" name="Text 2"/>
          <p:cNvSpPr txBox="1"/>
          <p:nvPr/>
        </p:nvSpPr>
        <p:spPr>
          <a:xfrm>
            <a:off x="812800" y="1943100"/>
            <a:ext cx="6604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Average response time by user base, run 06</a:t>
            </a:r>
            <a:endParaRPr lang="en-US" sz="1200" dirty="0"/>
          </a:p>
        </p:txBody>
      </p:sp>
      <p:sp>
        <p:nvSpPr>
          <p:cNvPr id="6" name="Text 3"/>
          <p:cNvSpPr txBox="1"/>
          <p:nvPr/>
        </p:nvSpPr>
        <p:spPr>
          <a:xfrm>
            <a:off x="812800" y="2286000"/>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UB1</a:t>
            </a:r>
            <a:endParaRPr lang="en-US" sz="1600" dirty="0"/>
          </a:p>
        </p:txBody>
      </p:sp>
      <p:sp>
        <p:nvSpPr>
          <p:cNvPr id="7" name="Shape 4"/>
          <p:cNvSpPr/>
          <p:nvPr/>
        </p:nvSpPr>
        <p:spPr>
          <a:xfrm>
            <a:off x="1572768" y="2286000"/>
            <a:ext cx="211903" cy="279400"/>
          </a:xfrm>
          <a:prstGeom prst="rect">
            <a:avLst/>
          </a:prstGeom>
          <a:solidFill>
            <a:srgbClr val="2456C7"/>
          </a:solidFill>
          <a:ln/>
        </p:spPr>
        <p:txBody>
          <a:bodyPr/>
          <a:p/>
        </p:txBody>
      </p:sp>
      <p:sp>
        <p:nvSpPr>
          <p:cNvPr id="8" name="Text 5"/>
          <p:cNvSpPr txBox="1"/>
          <p:nvPr/>
        </p:nvSpPr>
        <p:spPr>
          <a:xfrm>
            <a:off x="1940119" y="2286000"/>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10.42 ms</a:t>
            </a:r>
            <a:endParaRPr lang="en-US" sz="1600" dirty="0"/>
          </a:p>
        </p:txBody>
      </p:sp>
      <p:sp>
        <p:nvSpPr>
          <p:cNvPr id="9" name="Text 6"/>
          <p:cNvSpPr txBox="1"/>
          <p:nvPr/>
        </p:nvSpPr>
        <p:spPr>
          <a:xfrm>
            <a:off x="812800" y="2692908"/>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UB2</a:t>
            </a:r>
            <a:endParaRPr lang="en-US" sz="1600" dirty="0"/>
          </a:p>
        </p:txBody>
      </p:sp>
      <p:sp>
        <p:nvSpPr>
          <p:cNvPr id="10" name="Shape 7"/>
          <p:cNvSpPr/>
          <p:nvPr/>
        </p:nvSpPr>
        <p:spPr>
          <a:xfrm>
            <a:off x="1572768" y="2692908"/>
            <a:ext cx="411402" cy="279400"/>
          </a:xfrm>
          <a:prstGeom prst="rect">
            <a:avLst/>
          </a:prstGeom>
          <a:solidFill>
            <a:srgbClr val="2456C7"/>
          </a:solidFill>
          <a:ln/>
        </p:spPr>
        <p:txBody>
          <a:bodyPr/>
          <a:p/>
        </p:txBody>
      </p:sp>
      <p:sp>
        <p:nvSpPr>
          <p:cNvPr id="11" name="Text 8"/>
          <p:cNvSpPr txBox="1"/>
          <p:nvPr/>
        </p:nvSpPr>
        <p:spPr>
          <a:xfrm>
            <a:off x="2139618" y="2692908"/>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20.23 ms</a:t>
            </a:r>
            <a:endParaRPr lang="en-US" sz="1600" dirty="0"/>
          </a:p>
        </p:txBody>
      </p:sp>
      <p:sp>
        <p:nvSpPr>
          <p:cNvPr id="12" name="Text 9"/>
          <p:cNvSpPr txBox="1"/>
          <p:nvPr/>
        </p:nvSpPr>
        <p:spPr>
          <a:xfrm>
            <a:off x="812800" y="3099816"/>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UB3</a:t>
            </a:r>
            <a:endParaRPr lang="en-US" sz="1600" dirty="0"/>
          </a:p>
        </p:txBody>
      </p:sp>
      <p:sp>
        <p:nvSpPr>
          <p:cNvPr id="13" name="Shape 10"/>
          <p:cNvSpPr/>
          <p:nvPr/>
        </p:nvSpPr>
        <p:spPr>
          <a:xfrm>
            <a:off x="1572768" y="3099816"/>
            <a:ext cx="815890" cy="279400"/>
          </a:xfrm>
          <a:prstGeom prst="rect">
            <a:avLst/>
          </a:prstGeom>
          <a:solidFill>
            <a:srgbClr val="2456C7"/>
          </a:solidFill>
          <a:ln/>
        </p:spPr>
        <p:txBody>
          <a:bodyPr/>
          <a:p/>
        </p:txBody>
      </p:sp>
      <p:sp>
        <p:nvSpPr>
          <p:cNvPr id="14" name="Text 11"/>
          <p:cNvSpPr txBox="1"/>
          <p:nvPr/>
        </p:nvSpPr>
        <p:spPr>
          <a:xfrm>
            <a:off x="2544106" y="3099816"/>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40.12 ms</a:t>
            </a:r>
            <a:endParaRPr lang="en-US" sz="1600" dirty="0"/>
          </a:p>
        </p:txBody>
      </p:sp>
      <p:sp>
        <p:nvSpPr>
          <p:cNvPr id="15" name="Text 12"/>
          <p:cNvSpPr txBox="1"/>
          <p:nvPr/>
        </p:nvSpPr>
        <p:spPr>
          <a:xfrm>
            <a:off x="812800" y="3506724"/>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UB4</a:t>
            </a:r>
            <a:endParaRPr lang="en-US" sz="1600" dirty="0"/>
          </a:p>
        </p:txBody>
      </p:sp>
      <p:sp>
        <p:nvSpPr>
          <p:cNvPr id="16" name="Shape 13"/>
          <p:cNvSpPr/>
          <p:nvPr/>
        </p:nvSpPr>
        <p:spPr>
          <a:xfrm>
            <a:off x="1572768" y="3506724"/>
            <a:ext cx="816500" cy="279400"/>
          </a:xfrm>
          <a:prstGeom prst="rect">
            <a:avLst/>
          </a:prstGeom>
          <a:solidFill>
            <a:srgbClr val="2456C7"/>
          </a:solidFill>
          <a:ln/>
        </p:spPr>
        <p:txBody>
          <a:bodyPr/>
          <a:p/>
        </p:txBody>
      </p:sp>
      <p:sp>
        <p:nvSpPr>
          <p:cNvPr id="17" name="Text 14"/>
          <p:cNvSpPr txBox="1"/>
          <p:nvPr/>
        </p:nvSpPr>
        <p:spPr>
          <a:xfrm>
            <a:off x="2544716" y="3506724"/>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40.15 ms</a:t>
            </a:r>
            <a:endParaRPr lang="en-US" sz="1600" dirty="0"/>
          </a:p>
        </p:txBody>
      </p:sp>
      <p:sp>
        <p:nvSpPr>
          <p:cNvPr id="18" name="Text 15"/>
          <p:cNvSpPr txBox="1"/>
          <p:nvPr/>
        </p:nvSpPr>
        <p:spPr>
          <a:xfrm>
            <a:off x="812800" y="3913632"/>
            <a:ext cx="609600" cy="279400"/>
          </a:xfrm>
          <a:prstGeom prst="rect">
            <a:avLst/>
          </a:prstGeom>
          <a:noFill/>
          <a:ln/>
        </p:spPr>
        <p:txBody>
          <a:bodyPr wrap="square" lIns="0" tIns="0" rIns="0" bIns="0" rtlCol="0" anchor="ctr"/>
          <a:lstStyle/>
          <a:p>
            <a:pPr algn="l" indent="0" marL="0">
              <a:lnSpc>
                <a:spcPct val="100000"/>
              </a:lnSpc>
              <a:buNone/>
            </a:pPr>
            <a:r>
              <a:rPr lang="en-US" sz="1600" b="0" dirty="0">
                <a:solidFill>
                  <a:srgbClr val="0F1B2D"/>
                </a:solidFill>
                <a:latin typeface="Arial" pitchFamily="34" charset="0"/>
                <a:ea typeface="Arial" pitchFamily="34" charset="-122"/>
                <a:cs typeface="Arial" pitchFamily="34" charset="-120"/>
              </a:rPr>
              <a:t>UB5</a:t>
            </a:r>
            <a:endParaRPr lang="en-US" sz="1600" dirty="0"/>
          </a:p>
        </p:txBody>
      </p:sp>
      <p:sp>
        <p:nvSpPr>
          <p:cNvPr id="19" name="Shape 16"/>
          <p:cNvSpPr/>
          <p:nvPr/>
        </p:nvSpPr>
        <p:spPr>
          <a:xfrm>
            <a:off x="1572768" y="3913632"/>
            <a:ext cx="1629747" cy="279400"/>
          </a:xfrm>
          <a:prstGeom prst="rect">
            <a:avLst/>
          </a:prstGeom>
          <a:solidFill>
            <a:srgbClr val="2456C7"/>
          </a:solidFill>
          <a:ln/>
        </p:spPr>
        <p:txBody>
          <a:bodyPr/>
          <a:p/>
        </p:txBody>
      </p:sp>
      <p:sp>
        <p:nvSpPr>
          <p:cNvPr id="20" name="Text 17"/>
          <p:cNvSpPr txBox="1"/>
          <p:nvPr/>
        </p:nvSpPr>
        <p:spPr>
          <a:xfrm>
            <a:off x="3357963" y="3913632"/>
            <a:ext cx="1524000" cy="279400"/>
          </a:xfrm>
          <a:prstGeom prst="rect">
            <a:avLst/>
          </a:prstGeom>
          <a:noFill/>
          <a:ln/>
        </p:spPr>
        <p:txBody>
          <a:bodyPr wrap="square" lIns="0" tIns="0" rIns="0" bIns="0" rtlCol="0" anchor="ctr"/>
          <a:lstStyle/>
          <a:p>
            <a:pPr algn="l" indent="0" marL="0">
              <a:lnSpc>
                <a:spcPct val="100000"/>
              </a:lnSpc>
              <a:buNone/>
            </a:pPr>
            <a:r>
              <a:rPr lang="en-US" sz="1600" b="0" dirty="0">
                <a:solidFill>
                  <a:srgbClr val="0F1B2D"/>
                </a:solidFill>
                <a:latin typeface="Arial" pitchFamily="34" charset="0"/>
                <a:ea typeface="Arial" pitchFamily="34" charset="-122"/>
                <a:cs typeface="Arial" pitchFamily="34" charset="-120"/>
              </a:rPr>
              <a:t>80.14 ms</a:t>
            </a:r>
            <a:endParaRPr lang="en-US" sz="1600" dirty="0"/>
          </a:p>
        </p:txBody>
      </p:sp>
      <p:sp>
        <p:nvSpPr>
          <p:cNvPr id="21" name="Text 18"/>
          <p:cNvSpPr txBox="1"/>
          <p:nvPr/>
        </p:nvSpPr>
        <p:spPr>
          <a:xfrm>
            <a:off x="812800" y="4320540"/>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UB6</a:t>
            </a:r>
            <a:endParaRPr lang="en-US" sz="1600" dirty="0"/>
          </a:p>
        </p:txBody>
      </p:sp>
      <p:sp>
        <p:nvSpPr>
          <p:cNvPr id="35" name="Text 32"/>
          <p:cNvSpPr txBox="1"/>
          <p:nvPr/>
        </p:nvSpPr>
        <p:spPr>
          <a:xfrm>
            <a:off x="812800" y="4727448"/>
            <a:ext cx="6096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UB7</a:t>
            </a:r>
            <a:endParaRPr lang="en-US" sz="1600" dirty="0"/>
          </a:p>
        </p:txBody>
      </p:sp>
      <p:sp>
        <p:nvSpPr>
          <p:cNvPr id="22" name="Shape 19"/>
          <p:cNvSpPr/>
          <p:nvPr/>
        </p:nvSpPr>
        <p:spPr>
          <a:xfrm>
            <a:off x="1572768" y="4320540"/>
            <a:ext cx="3257258" cy="279400"/>
          </a:xfrm>
          <a:prstGeom prst="rect">
            <a:avLst/>
          </a:prstGeom>
          <a:solidFill>
            <a:srgbClr val="2456C7"/>
          </a:solidFill>
          <a:ln/>
        </p:spPr>
        <p:txBody>
          <a:bodyPr/>
          <a:p/>
        </p:txBody>
      </p:sp>
      <p:sp>
        <p:nvSpPr>
          <p:cNvPr id="36" name="Shape 33"/>
          <p:cNvSpPr/>
          <p:nvPr/>
        </p:nvSpPr>
        <p:spPr>
          <a:xfrm>
            <a:off x="1572768" y="4727448"/>
            <a:ext cx="4071928" cy="279400"/>
          </a:xfrm>
          <a:prstGeom prst="rect">
            <a:avLst/>
          </a:prstGeom>
          <a:solidFill>
            <a:srgbClr val="2456C7"/>
          </a:solidFill>
          <a:ln/>
        </p:spPr>
        <p:txBody>
          <a:bodyPr/>
          <a:p/>
        </p:txBody>
      </p:sp>
      <p:sp>
        <p:nvSpPr>
          <p:cNvPr id="23" name="Text 20"/>
          <p:cNvSpPr txBox="1"/>
          <p:nvPr/>
        </p:nvSpPr>
        <p:spPr>
          <a:xfrm>
            <a:off x="4985474" y="4320540"/>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160.17 ms</a:t>
            </a:r>
            <a:endParaRPr lang="en-US" sz="1600" dirty="0"/>
          </a:p>
        </p:txBody>
      </p:sp>
      <p:sp>
        <p:nvSpPr>
          <p:cNvPr id="37" name="Text 34"/>
          <p:cNvSpPr txBox="1"/>
          <p:nvPr/>
        </p:nvSpPr>
        <p:spPr>
          <a:xfrm>
            <a:off x="5800144" y="4727448"/>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200.23 ms</a:t>
            </a:r>
            <a:endParaRPr lang="en-US" sz="1600" dirty="0"/>
          </a:p>
        </p:txBody>
      </p:sp>
      <p:sp>
        <p:nvSpPr>
          <p:cNvPr id="24" name="Shape 21"/>
          <p:cNvSpPr/>
          <p:nvPr/>
        </p:nvSpPr>
        <p:spPr>
          <a:xfrm>
            <a:off x="1574800" y="5079492"/>
            <a:ext cx="5080000" cy="12700"/>
          </a:xfrm>
          <a:prstGeom prst="rect">
            <a:avLst/>
          </a:prstGeom>
          <a:solidFill>
            <a:srgbClr val="C9CCD1"/>
          </a:solidFill>
          <a:ln/>
        </p:spPr>
        <p:txBody>
          <a:bodyPr/>
          <a:p/>
        </p:txBody>
      </p:sp>
      <p:sp>
        <p:nvSpPr>
          <p:cNvPr id="25" name="Text 22"/>
          <p:cNvSpPr txBox="1"/>
          <p:nvPr/>
        </p:nvSpPr>
        <p:spPr>
          <a:xfrm>
            <a:off x="1574800" y="5152644"/>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 ms</a:t>
            </a:r>
            <a:endParaRPr lang="en-US" sz="1200" dirty="0"/>
          </a:p>
        </p:txBody>
      </p:sp>
      <p:sp>
        <p:nvSpPr>
          <p:cNvPr id="26" name="Text 23"/>
          <p:cNvSpPr txBox="1"/>
          <p:nvPr/>
        </p:nvSpPr>
        <p:spPr>
          <a:xfrm>
            <a:off x="5384800" y="5152644"/>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250 ms</a:t>
            </a:r>
            <a:endParaRPr lang="en-US" sz="1200" dirty="0"/>
          </a:p>
        </p:txBody>
      </p:sp>
      <p:sp>
        <p:nvSpPr>
          <p:cNvPr id="27" name="Shape 24"/>
          <p:cNvSpPr/>
          <p:nvPr/>
        </p:nvSpPr>
        <p:spPr>
          <a:xfrm>
            <a:off x="7823200" y="1943100"/>
            <a:ext cx="3556000" cy="25400"/>
          </a:xfrm>
          <a:prstGeom prst="rect">
            <a:avLst/>
          </a:prstGeom>
          <a:solidFill>
            <a:srgbClr val="2456C7"/>
          </a:solidFill>
          <a:ln/>
        </p:spPr>
        <p:txBody>
          <a:bodyPr/>
          <a:p/>
        </p:txBody>
      </p:sp>
      <p:sp>
        <p:nvSpPr>
          <p:cNvPr id="28" name="Text 25"/>
          <p:cNvSpPr txBox="1"/>
          <p:nvPr/>
        </p:nvSpPr>
        <p:spPr>
          <a:xfrm>
            <a:off x="7823200" y="2095500"/>
            <a:ext cx="3556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0.55 ms</a:t>
            </a:r>
            <a:endParaRPr lang="en-US" sz="3600" dirty="0"/>
          </a:p>
        </p:txBody>
      </p:sp>
      <p:sp>
        <p:nvSpPr>
          <p:cNvPr id="29" name="Text 26"/>
          <p:cNvSpPr txBox="1"/>
          <p:nvPr/>
        </p:nvSpPr>
        <p:spPr>
          <a:xfrm>
            <a:off x="7823200" y="2679700"/>
            <a:ext cx="3556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average data-center processing, the lowest of all six runs</a:t>
            </a:r>
            <a:endParaRPr lang="en-US" sz="1600" dirty="0"/>
          </a:p>
        </p:txBody>
      </p:sp>
      <p:sp>
        <p:nvSpPr>
          <p:cNvPr id="30" name="Shape 27"/>
          <p:cNvSpPr/>
          <p:nvPr/>
        </p:nvSpPr>
        <p:spPr>
          <a:xfrm>
            <a:off x="7823200" y="3848100"/>
            <a:ext cx="3556000" cy="25400"/>
          </a:xfrm>
          <a:prstGeom prst="rect">
            <a:avLst/>
          </a:prstGeom>
          <a:solidFill>
            <a:srgbClr val="B4491A"/>
          </a:solidFill>
          <a:ln/>
        </p:spPr>
        <p:txBody>
          <a:bodyPr/>
          <a:p/>
        </p:txBody>
      </p:sp>
      <p:sp>
        <p:nvSpPr>
          <p:cNvPr id="31" name="Text 28"/>
          <p:cNvSpPr txBox="1"/>
          <p:nvPr/>
        </p:nvSpPr>
        <p:spPr>
          <a:xfrm>
            <a:off x="7823200" y="4000500"/>
            <a:ext cx="3556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78.81 ms</a:t>
            </a:r>
            <a:endParaRPr lang="en-US" sz="3600" dirty="0"/>
          </a:p>
        </p:txBody>
      </p:sp>
      <p:sp>
        <p:nvSpPr>
          <p:cNvPr id="32" name="Text 29"/>
          <p:cNvSpPr txBox="1"/>
          <p:nvPr/>
        </p:nvSpPr>
        <p:spPr>
          <a:xfrm>
            <a:off x="7823200" y="4584700"/>
            <a:ext cx="3556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overall average, lower than runs 01–05 because this map has shorter latencies</a:t>
            </a:r>
            <a:endParaRPr lang="en-US" sz="1600" dirty="0"/>
          </a:p>
        </p:txBody>
      </p:sp>
      <p:sp>
        <p:nvSpPr>
          <p:cNvPr id="33" name="Text 30"/>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34" name="Text 31"/>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RUN 06 · LOAD AND COST</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Load spreads evenly, but DC6 sits idle</a:t>
            </a:r>
            <a:endParaRPr lang="en-US" sz="3600" dirty="0"/>
          </a:p>
        </p:txBody>
      </p:sp>
      <p:sp>
        <p:nvSpPr>
          <p:cNvPr id="5" name="Text 2"/>
          <p:cNvSpPr txBox="1"/>
          <p:nvPr/>
        </p:nvSpPr>
        <p:spPr>
          <a:xfrm>
            <a:off x="812800" y="1943100"/>
            <a:ext cx="4572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Peak requests per hour, run 06</a:t>
            </a:r>
            <a:endParaRPr lang="en-US" sz="1200" dirty="0"/>
          </a:p>
        </p:txBody>
      </p:sp>
      <p:sp>
        <p:nvSpPr>
          <p:cNvPr id="28" name="Text 25"/>
          <p:cNvSpPr txBox="1"/>
          <p:nvPr/>
        </p:nvSpPr>
        <p:spPr>
          <a:xfrm>
            <a:off x="5760720" y="1943100"/>
            <a:ext cx="13716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Avg processing</a:t>
            </a:r>
            <a:endParaRPr lang="en-US" sz="1200" dirty="0"/>
          </a:p>
        </p:txBody>
      </p:sp>
      <p:sp>
        <p:nvSpPr>
          <p:cNvPr id="6" name="Text 3"/>
          <p:cNvSpPr txBox="1"/>
          <p:nvPr/>
        </p:nvSpPr>
        <p:spPr>
          <a:xfrm>
            <a:off x="812800" y="2286000"/>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DC1 · 5 VMs</a:t>
            </a:r>
            <a:endParaRPr lang="en-US" sz="1600" dirty="0"/>
          </a:p>
        </p:txBody>
      </p:sp>
      <p:sp>
        <p:nvSpPr>
          <p:cNvPr id="32" name="Text 43"/>
          <p:cNvSpPr txBox="1"/>
          <p:nvPr/>
        </p:nvSpPr>
        <p:spPr>
          <a:xfrm>
            <a:off x="812800" y="4320540"/>
            <a:ext cx="1524000" cy="279400"/>
          </a:xfrm>
          <a:prstGeom prst="rect">
            <a:avLst/>
          </a:prstGeom>
          <a:noFill/>
          <a:ln/>
        </p:spPr>
        <p:txBody>
          <a:bodyPr wrap="square" lIns="0" tIns="0" rIns="0" bIns="0" rtlCol="0" anchor="ctr"/>
          <a:lstStyle/>
          <a:p>
            <a:pPr algn="l" indent="0" marL="0">
              <a:lnSpc>
                <a:spcPct val="100000"/>
              </a:lnSpc>
              <a:buNone/>
            </a:pPr>
            <a:r>
              <a:rPr lang="en-US" sz="1600" dirty="0" b="1">
                <a:solidFill>
                  <a:srgbClr val="0F1B2D"/>
                </a:solidFill>
                <a:latin typeface="Arial" pitchFamily="34" charset="0"/>
                <a:ea typeface="Arial" pitchFamily="34" charset="-122"/>
                <a:cs typeface="Arial" pitchFamily="34" charset="-120"/>
              </a:rPr>
              <a:t>DC6 · 4 VMs</a:t>
            </a:r>
            <a:endParaRPr lang="en-US" sz="1600" dirty="0"/>
          </a:p>
        </p:txBody>
      </p:sp>
      <p:sp>
        <p:nvSpPr>
          <p:cNvPr id="29" name="Text 40"/>
          <p:cNvSpPr txBox="1"/>
          <p:nvPr/>
        </p:nvSpPr>
        <p:spPr>
          <a:xfrm>
            <a:off x="812800" y="3913632"/>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DC5 · 5 VMs</a:t>
            </a:r>
            <a:endParaRPr lang="en-US" sz="1600" dirty="0"/>
          </a:p>
        </p:txBody>
      </p:sp>
      <p:sp>
        <p:nvSpPr>
          <p:cNvPr id="7" name="Shape 4"/>
          <p:cNvSpPr/>
          <p:nvPr/>
        </p:nvSpPr>
        <p:spPr>
          <a:xfrm>
            <a:off x="2487168" y="2286000"/>
            <a:ext cx="2377440" cy="279400"/>
          </a:xfrm>
          <a:prstGeom prst="rect">
            <a:avLst/>
          </a:prstGeom>
          <a:solidFill>
            <a:srgbClr val="2456C7"/>
          </a:solidFill>
          <a:ln/>
        </p:spPr>
        <p:txBody>
          <a:bodyPr/>
          <a:p/>
        </p:txBody>
      </p:sp>
      <p:sp>
        <p:nvSpPr>
          <p:cNvPr id="30" name="Shape 41"/>
          <p:cNvSpPr/>
          <p:nvPr/>
        </p:nvSpPr>
        <p:spPr>
          <a:xfrm>
            <a:off x="2487168" y="3913632"/>
            <a:ext cx="1188720" cy="279400"/>
          </a:xfrm>
          <a:prstGeom prst="rect">
            <a:avLst/>
          </a:prstGeom>
          <a:solidFill>
            <a:srgbClr val="2456C7"/>
          </a:solidFill>
          <a:ln/>
        </p:spPr>
        <p:txBody>
          <a:bodyPr/>
          <a:p/>
        </p:txBody>
      </p:sp>
      <p:sp>
        <p:nvSpPr>
          <p:cNvPr id="8" name="Text 5"/>
          <p:cNvSpPr txBox="1"/>
          <p:nvPr/>
        </p:nvSpPr>
        <p:spPr>
          <a:xfrm>
            <a:off x="5020056" y="2286000"/>
            <a:ext cx="9144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≈120k</a:t>
            </a:r>
            <a:endParaRPr lang="en-US" sz="1600" dirty="0"/>
          </a:p>
        </p:txBody>
      </p:sp>
      <p:sp>
        <p:nvSpPr>
          <p:cNvPr id="35" name="Text 60"/>
          <p:cNvSpPr txBox="1"/>
          <p:nvPr/>
        </p:nvSpPr>
        <p:spPr>
          <a:xfrm>
            <a:off x="6126480" y="2286000"/>
            <a:ext cx="1005840" cy="279400"/>
          </a:xfrm>
          <a:prstGeom prst="rect">
            <a:avLst/>
          </a:prstGeom>
          <a:noFill/>
          <a:ln/>
        </p:spPr>
        <p:txBody>
          <a:bodyPr wrap="square" lIns="0" tIns="0" rIns="0" bIns="0" rtlCol="0" anchor="ctr"/>
          <a:lstStyle/>
          <a:p>
            <a:pPr algn="r" indent="0" marL="0">
              <a:lnSpc>
                <a:spcPct val="100000"/>
              </a:lnSpc>
              <a:buNone/>
            </a:pPr>
            <a:r>
              <a:rPr lang="en-US" sz="1600" dirty="0" b="0">
                <a:solidFill>
                  <a:srgbClr val="0F1B2D"/>
                </a:solidFill>
                <a:latin typeface="Arial" pitchFamily="34" charset="0"/>
                <a:ea typeface="Arial" pitchFamily="34" charset="-122"/>
                <a:cs typeface="Arial" pitchFamily="34" charset="-120"/>
              </a:rPr>
              <a:t>0.51 ms</a:t>
            </a:r>
            <a:endParaRPr lang="en-US" sz="1600" dirty="0"/>
          </a:p>
        </p:txBody>
      </p:sp>
      <p:sp>
        <p:nvSpPr>
          <p:cNvPr id="34" name="Text 45"/>
          <p:cNvSpPr txBox="1"/>
          <p:nvPr/>
        </p:nvSpPr>
        <p:spPr>
          <a:xfrm>
            <a:off x="2487168" y="4320540"/>
            <a:ext cx="1527048" cy="279400"/>
          </a:xfrm>
          <a:prstGeom prst="rect">
            <a:avLst/>
          </a:prstGeom>
          <a:noFill/>
          <a:ln/>
        </p:spPr>
        <p:txBody>
          <a:bodyPr wrap="square" lIns="0" tIns="0" rIns="0" bIns="0" rtlCol="0" anchor="ctr"/>
          <a:lstStyle/>
          <a:p>
            <a:pPr algn="l" indent="0" marL="0">
              <a:lnSpc>
                <a:spcPct val="100000"/>
              </a:lnSpc>
              <a:buNone/>
            </a:pPr>
            <a:r>
              <a:rPr lang="en-US" sz="1600" dirty="0" b="1">
                <a:solidFill>
                  <a:srgbClr val="B4491A"/>
                </a:solidFill>
                <a:latin typeface="Arial" pitchFamily="34" charset="0"/>
                <a:ea typeface="Arial" pitchFamily="34" charset="-122"/>
                <a:cs typeface="Arial" pitchFamily="34" charset="-120"/>
              </a:rPr>
              <a:t>no requests</a:t>
            </a:r>
            <a:endParaRPr lang="en-US" sz="1600" dirty="0"/>
          </a:p>
        </p:txBody>
      </p:sp>
      <p:sp>
        <p:nvSpPr>
          <p:cNvPr id="40" name="Text 65"/>
          <p:cNvSpPr txBox="1"/>
          <p:nvPr/>
        </p:nvSpPr>
        <p:spPr>
          <a:xfrm>
            <a:off x="6126480" y="4320540"/>
            <a:ext cx="1005840" cy="279400"/>
          </a:xfrm>
          <a:prstGeom prst="rect">
            <a:avLst/>
          </a:prstGeom>
          <a:noFill/>
          <a:ln/>
        </p:spPr>
        <p:txBody>
          <a:bodyPr wrap="square" lIns="0" tIns="0" rIns="0" bIns="0" rtlCol="0" anchor="ctr"/>
          <a:lstStyle/>
          <a:p>
            <a:pPr algn="r" indent="0" marL="0">
              <a:lnSpc>
                <a:spcPct val="100000"/>
              </a:lnSpc>
              <a:buNone/>
            </a:pPr>
            <a:r>
              <a:rPr lang="en-US" sz="1600" dirty="0" b="1">
                <a:solidFill>
                  <a:srgbClr val="B4491A"/>
                </a:solidFill>
                <a:latin typeface="Arial" pitchFamily="34" charset="0"/>
                <a:ea typeface="Arial" pitchFamily="34" charset="-122"/>
                <a:cs typeface="Arial" pitchFamily="34" charset="-120"/>
              </a:rPr>
              <a:t>idle</a:t>
            </a:r>
            <a:endParaRPr lang="en-US" sz="1600" dirty="0"/>
          </a:p>
        </p:txBody>
      </p:sp>
      <p:sp>
        <p:nvSpPr>
          <p:cNvPr id="31" name="Text 42"/>
          <p:cNvSpPr txBox="1"/>
          <p:nvPr/>
        </p:nvSpPr>
        <p:spPr>
          <a:xfrm>
            <a:off x="3831336" y="3913632"/>
            <a:ext cx="9144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≈60k</a:t>
            </a:r>
            <a:endParaRPr lang="en-US" sz="1600" dirty="0"/>
          </a:p>
        </p:txBody>
      </p:sp>
      <p:sp>
        <p:nvSpPr>
          <p:cNvPr id="39" name="Text 64"/>
          <p:cNvSpPr txBox="1"/>
          <p:nvPr/>
        </p:nvSpPr>
        <p:spPr>
          <a:xfrm>
            <a:off x="6126480" y="3913632"/>
            <a:ext cx="1005840" cy="279400"/>
          </a:xfrm>
          <a:prstGeom prst="rect">
            <a:avLst/>
          </a:prstGeom>
          <a:noFill/>
          <a:ln/>
        </p:spPr>
        <p:txBody>
          <a:bodyPr wrap="square" lIns="0" tIns="0" rIns="0" bIns="0" rtlCol="0" anchor="ctr"/>
          <a:lstStyle/>
          <a:p>
            <a:pPr algn="r" indent="0" marL="0">
              <a:lnSpc>
                <a:spcPct val="100000"/>
              </a:lnSpc>
              <a:buNone/>
            </a:pPr>
            <a:r>
              <a:rPr lang="en-US" sz="1600" dirty="0" b="0">
                <a:solidFill>
                  <a:srgbClr val="0F1B2D"/>
                </a:solidFill>
                <a:latin typeface="Arial" pitchFamily="34" charset="0"/>
                <a:ea typeface="Arial" pitchFamily="34" charset="-122"/>
                <a:cs typeface="Arial" pitchFamily="34" charset="-120"/>
              </a:rPr>
              <a:t>0.54 ms</a:t>
            </a:r>
            <a:endParaRPr lang="en-US" sz="1600" dirty="0"/>
          </a:p>
        </p:txBody>
      </p:sp>
      <p:sp>
        <p:nvSpPr>
          <p:cNvPr id="9" name="Text 6"/>
          <p:cNvSpPr txBox="1"/>
          <p:nvPr/>
        </p:nvSpPr>
        <p:spPr>
          <a:xfrm>
            <a:off x="812800" y="2692908"/>
            <a:ext cx="1524000" cy="279400"/>
          </a:xfrm>
          <a:prstGeom prst="rect">
            <a:avLst/>
          </a:prstGeom>
          <a:noFill/>
          <a:ln/>
        </p:spPr>
        <p:txBody>
          <a:bodyPr wrap="square" lIns="0" tIns="0" rIns="0" bIns="0" rtlCol="0" anchor="ctr"/>
          <a:lstStyle/>
          <a:p>
            <a:pPr algn="l" indent="0" marL="0">
              <a:lnSpc>
                <a:spcPct val="100000"/>
              </a:lnSpc>
              <a:buNone/>
            </a:pPr>
            <a:r>
              <a:rPr lang="en-US" sz="1600" b="0" dirty="0">
                <a:solidFill>
                  <a:srgbClr val="0F1B2D"/>
                </a:solidFill>
                <a:latin typeface="Arial" pitchFamily="34" charset="0"/>
                <a:ea typeface="Arial" pitchFamily="34" charset="-122"/>
                <a:cs typeface="Arial" pitchFamily="34" charset="-120"/>
              </a:rPr>
              <a:t>DC2 · 5 VMs</a:t>
            </a:r>
            <a:endParaRPr lang="en-US" sz="1600" dirty="0"/>
          </a:p>
        </p:txBody>
      </p:sp>
      <p:sp>
        <p:nvSpPr>
          <p:cNvPr id="10" name="Shape 7"/>
          <p:cNvSpPr/>
          <p:nvPr/>
        </p:nvSpPr>
        <p:spPr>
          <a:xfrm>
            <a:off x="2487168" y="2692908"/>
            <a:ext cx="1188720" cy="279400"/>
          </a:xfrm>
          <a:prstGeom prst="rect">
            <a:avLst/>
          </a:prstGeom>
          <a:solidFill>
            <a:srgbClr val="2456C7"/>
          </a:solidFill>
          <a:ln/>
        </p:spPr>
        <p:txBody>
          <a:bodyPr/>
          <a:p/>
        </p:txBody>
      </p:sp>
      <p:sp>
        <p:nvSpPr>
          <p:cNvPr id="11" name="Text 8"/>
          <p:cNvSpPr txBox="1"/>
          <p:nvPr/>
        </p:nvSpPr>
        <p:spPr>
          <a:xfrm>
            <a:off x="3831336" y="2692908"/>
            <a:ext cx="914400" cy="279400"/>
          </a:xfrm>
          <a:prstGeom prst="rect">
            <a:avLst/>
          </a:prstGeom>
          <a:noFill/>
          <a:ln/>
        </p:spPr>
        <p:txBody>
          <a:bodyPr wrap="square" lIns="0" tIns="0" rIns="0" bIns="0" rtlCol="0" anchor="ctr"/>
          <a:lstStyle/>
          <a:p>
            <a:pPr algn="l" indent="0" marL="0">
              <a:lnSpc>
                <a:spcPct val="100000"/>
              </a:lnSpc>
              <a:buNone/>
            </a:pPr>
            <a:r>
              <a:rPr lang="en-US" sz="1600" b="0" dirty="0">
                <a:solidFill>
                  <a:srgbClr val="0F1B2D"/>
                </a:solidFill>
                <a:latin typeface="Arial" pitchFamily="34" charset="0"/>
                <a:ea typeface="Arial" pitchFamily="34" charset="-122"/>
                <a:cs typeface="Arial" pitchFamily="34" charset="-120"/>
              </a:rPr>
              <a:t>≈60k</a:t>
            </a:r>
            <a:endParaRPr lang="en-US" sz="1600" dirty="0"/>
          </a:p>
        </p:txBody>
      </p:sp>
      <p:sp>
        <p:nvSpPr>
          <p:cNvPr id="36" name="Text 61"/>
          <p:cNvSpPr txBox="1"/>
          <p:nvPr/>
        </p:nvSpPr>
        <p:spPr>
          <a:xfrm>
            <a:off x="6126480" y="2692908"/>
            <a:ext cx="1005840" cy="279400"/>
          </a:xfrm>
          <a:prstGeom prst="rect">
            <a:avLst/>
          </a:prstGeom>
          <a:noFill/>
          <a:ln/>
        </p:spPr>
        <p:txBody>
          <a:bodyPr wrap="square" lIns="0" tIns="0" rIns="0" bIns="0" rtlCol="0" anchor="ctr"/>
          <a:lstStyle/>
          <a:p>
            <a:pPr algn="r" indent="0" marL="0">
              <a:lnSpc>
                <a:spcPct val="100000"/>
              </a:lnSpc>
              <a:buNone/>
            </a:pPr>
            <a:r>
              <a:rPr lang="en-US" sz="1600" b="0" dirty="0">
                <a:solidFill>
                  <a:srgbClr val="0F1B2D"/>
                </a:solidFill>
                <a:latin typeface="Arial" pitchFamily="34" charset="0"/>
                <a:ea typeface="Arial" pitchFamily="34" charset="-122"/>
                <a:cs typeface="Arial" pitchFamily="34" charset="-120"/>
              </a:rPr>
              <a:t>0.67 ms</a:t>
            </a:r>
            <a:endParaRPr lang="en-US" sz="1600" dirty="0"/>
          </a:p>
        </p:txBody>
      </p:sp>
      <p:sp>
        <p:nvSpPr>
          <p:cNvPr id="12" name="Text 9"/>
          <p:cNvSpPr txBox="1"/>
          <p:nvPr/>
        </p:nvSpPr>
        <p:spPr>
          <a:xfrm>
            <a:off x="812800" y="3099816"/>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DC3 · 5 VMs</a:t>
            </a:r>
            <a:endParaRPr lang="en-US" sz="1600" dirty="0"/>
          </a:p>
        </p:txBody>
      </p:sp>
      <p:sp>
        <p:nvSpPr>
          <p:cNvPr id="13" name="Shape 10"/>
          <p:cNvSpPr/>
          <p:nvPr/>
        </p:nvSpPr>
        <p:spPr>
          <a:xfrm>
            <a:off x="2487168" y="3099816"/>
            <a:ext cx="2377440" cy="279400"/>
          </a:xfrm>
          <a:prstGeom prst="rect">
            <a:avLst/>
          </a:prstGeom>
          <a:solidFill>
            <a:srgbClr val="2456C7"/>
          </a:solidFill>
          <a:ln/>
        </p:spPr>
        <p:txBody>
          <a:bodyPr/>
          <a:p/>
        </p:txBody>
      </p:sp>
      <p:sp>
        <p:nvSpPr>
          <p:cNvPr id="14" name="Text 11"/>
          <p:cNvSpPr txBox="1"/>
          <p:nvPr/>
        </p:nvSpPr>
        <p:spPr>
          <a:xfrm>
            <a:off x="5020056" y="3099816"/>
            <a:ext cx="9144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≈120k</a:t>
            </a:r>
            <a:endParaRPr lang="en-US" sz="1600" dirty="0"/>
          </a:p>
        </p:txBody>
      </p:sp>
      <p:sp>
        <p:nvSpPr>
          <p:cNvPr id="37" name="Text 62"/>
          <p:cNvSpPr txBox="1"/>
          <p:nvPr/>
        </p:nvSpPr>
        <p:spPr>
          <a:xfrm>
            <a:off x="6126480" y="3099816"/>
            <a:ext cx="1005840" cy="279400"/>
          </a:xfrm>
          <a:prstGeom prst="rect">
            <a:avLst/>
          </a:prstGeom>
          <a:noFill/>
          <a:ln/>
        </p:spPr>
        <p:txBody>
          <a:bodyPr wrap="square" lIns="0" tIns="0" rIns="0" bIns="0" rtlCol="0" anchor="ctr"/>
          <a:lstStyle/>
          <a:p>
            <a:pPr algn="r" indent="0" marL="0">
              <a:lnSpc>
                <a:spcPct val="100000"/>
              </a:lnSpc>
              <a:buNone/>
            </a:pPr>
            <a:r>
              <a:rPr lang="en-US" sz="1600" dirty="0" b="0">
                <a:solidFill>
                  <a:srgbClr val="0F1B2D"/>
                </a:solidFill>
                <a:latin typeface="Arial" pitchFamily="34" charset="0"/>
                <a:ea typeface="Arial" pitchFamily="34" charset="-122"/>
                <a:cs typeface="Arial" pitchFamily="34" charset="-120"/>
              </a:rPr>
              <a:t>0.54 ms</a:t>
            </a:r>
            <a:endParaRPr lang="en-US" sz="1600" dirty="0"/>
          </a:p>
        </p:txBody>
      </p:sp>
      <p:sp>
        <p:nvSpPr>
          <p:cNvPr id="15" name="Text 12"/>
          <p:cNvSpPr txBox="1"/>
          <p:nvPr/>
        </p:nvSpPr>
        <p:spPr>
          <a:xfrm>
            <a:off x="812800" y="3506724"/>
            <a:ext cx="15240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DC4 · 5 VMs</a:t>
            </a:r>
            <a:endParaRPr lang="en-US" sz="1600" dirty="0"/>
          </a:p>
        </p:txBody>
      </p:sp>
      <p:sp>
        <p:nvSpPr>
          <p:cNvPr id="16" name="Shape 13"/>
          <p:cNvSpPr/>
          <p:nvPr/>
        </p:nvSpPr>
        <p:spPr>
          <a:xfrm>
            <a:off x="2487168" y="3506724"/>
            <a:ext cx="1188720" cy="279400"/>
          </a:xfrm>
          <a:prstGeom prst="rect">
            <a:avLst/>
          </a:prstGeom>
          <a:solidFill>
            <a:srgbClr val="2456C7"/>
          </a:solidFill>
          <a:ln/>
        </p:spPr>
        <p:txBody>
          <a:bodyPr/>
          <a:p/>
        </p:txBody>
      </p:sp>
      <p:sp>
        <p:nvSpPr>
          <p:cNvPr id="17" name="Text 14"/>
          <p:cNvSpPr txBox="1"/>
          <p:nvPr/>
        </p:nvSpPr>
        <p:spPr>
          <a:xfrm>
            <a:off x="3831336" y="3506724"/>
            <a:ext cx="914400" cy="279400"/>
          </a:xfrm>
          <a:prstGeom prst="rect">
            <a:avLst/>
          </a:prstGeom>
          <a:noFill/>
          <a:ln/>
        </p:spPr>
        <p:txBody>
          <a:bodyPr wrap="square" lIns="0" tIns="0" rIns="0" bIns="0" rtlCol="0" anchor="ctr"/>
          <a:lstStyle/>
          <a:p>
            <a:pPr algn="l" indent="0" marL="0">
              <a:lnSpc>
                <a:spcPct val="100000"/>
              </a:lnSpc>
              <a:buNone/>
            </a:pPr>
            <a:r>
              <a:rPr lang="en-US" sz="1600" dirty="0" b="0">
                <a:solidFill>
                  <a:srgbClr val="0F1B2D"/>
                </a:solidFill>
                <a:latin typeface="Arial" pitchFamily="34" charset="0"/>
                <a:ea typeface="Arial" pitchFamily="34" charset="-122"/>
                <a:cs typeface="Arial" pitchFamily="34" charset="-120"/>
              </a:rPr>
              <a:t>≈60k</a:t>
            </a:r>
            <a:endParaRPr lang="en-US" sz="1600" dirty="0"/>
          </a:p>
        </p:txBody>
      </p:sp>
      <p:sp>
        <p:nvSpPr>
          <p:cNvPr id="38" name="Text 63"/>
          <p:cNvSpPr txBox="1"/>
          <p:nvPr/>
        </p:nvSpPr>
        <p:spPr>
          <a:xfrm>
            <a:off x="6126480" y="3506724"/>
            <a:ext cx="1005840" cy="279400"/>
          </a:xfrm>
          <a:prstGeom prst="rect">
            <a:avLst/>
          </a:prstGeom>
          <a:noFill/>
          <a:ln/>
        </p:spPr>
        <p:txBody>
          <a:bodyPr wrap="square" lIns="0" tIns="0" rIns="0" bIns="0" rtlCol="0" anchor="ctr"/>
          <a:lstStyle/>
          <a:p>
            <a:pPr algn="r" indent="0" marL="0">
              <a:lnSpc>
                <a:spcPct val="100000"/>
              </a:lnSpc>
              <a:buNone/>
            </a:pPr>
            <a:r>
              <a:rPr lang="en-US" sz="1600" dirty="0" b="0">
                <a:solidFill>
                  <a:srgbClr val="0F1B2D"/>
                </a:solidFill>
                <a:latin typeface="Arial" pitchFamily="34" charset="0"/>
                <a:ea typeface="Arial" pitchFamily="34" charset="-122"/>
                <a:cs typeface="Arial" pitchFamily="34" charset="-120"/>
              </a:rPr>
              <a:t>0.53 ms</a:t>
            </a:r>
            <a:endParaRPr lang="en-US" sz="1600" dirty="0"/>
          </a:p>
        </p:txBody>
      </p:sp>
      <p:sp>
        <p:nvSpPr>
          <p:cNvPr id="18" name="Shape 15"/>
          <p:cNvSpPr/>
          <p:nvPr/>
        </p:nvSpPr>
        <p:spPr>
          <a:xfrm>
            <a:off x="2489200" y="4672584"/>
            <a:ext cx="2377440" cy="12700"/>
          </a:xfrm>
          <a:prstGeom prst="rect">
            <a:avLst/>
          </a:prstGeom>
          <a:solidFill>
            <a:srgbClr val="C9CCD1"/>
          </a:solidFill>
          <a:ln/>
        </p:spPr>
        <p:txBody>
          <a:bodyPr/>
          <a:p/>
        </p:txBody>
      </p:sp>
      <p:sp>
        <p:nvSpPr>
          <p:cNvPr id="19" name="Text 16"/>
          <p:cNvSpPr txBox="1"/>
          <p:nvPr/>
        </p:nvSpPr>
        <p:spPr>
          <a:xfrm>
            <a:off x="2489200" y="4745736"/>
            <a:ext cx="127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0</a:t>
            </a:r>
            <a:endParaRPr lang="en-US" sz="1200" dirty="0"/>
          </a:p>
        </p:txBody>
      </p:sp>
      <p:sp>
        <p:nvSpPr>
          <p:cNvPr id="20" name="Text 17"/>
          <p:cNvSpPr txBox="1"/>
          <p:nvPr/>
        </p:nvSpPr>
        <p:spPr>
          <a:xfrm>
            <a:off x="3593592" y="4745736"/>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120k / h</a:t>
            </a:r>
            <a:endParaRPr lang="en-US" sz="1200" dirty="0"/>
          </a:p>
        </p:txBody>
      </p:sp>
      <p:sp>
        <p:nvSpPr>
          <p:cNvPr id="21" name="Shape 18"/>
          <p:cNvSpPr/>
          <p:nvPr/>
        </p:nvSpPr>
        <p:spPr>
          <a:xfrm>
            <a:off x="7569200" y="1943100"/>
            <a:ext cx="3810000" cy="25400"/>
          </a:xfrm>
          <a:prstGeom prst="rect">
            <a:avLst/>
          </a:prstGeom>
          <a:solidFill>
            <a:srgbClr val="B4491A"/>
          </a:solidFill>
          <a:ln/>
        </p:spPr>
        <p:txBody>
          <a:bodyPr/>
          <a:p/>
        </p:txBody>
      </p:sp>
      <p:sp>
        <p:nvSpPr>
          <p:cNvPr id="22" name="Text 19"/>
          <p:cNvSpPr txBox="1"/>
          <p:nvPr/>
        </p:nvSpPr>
        <p:spPr>
          <a:xfrm>
            <a:off x="7569200" y="2095500"/>
            <a:ext cx="38100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$9.60</a:t>
            </a:r>
            <a:endParaRPr lang="en-US" sz="3600" dirty="0"/>
          </a:p>
        </p:txBody>
      </p:sp>
      <p:sp>
        <p:nvSpPr>
          <p:cNvPr id="23" name="Text 20"/>
          <p:cNvSpPr txBox="1"/>
          <p:nvPr/>
        </p:nvSpPr>
        <p:spPr>
          <a:xfrm>
            <a:off x="7569200" y="2679700"/>
            <a:ext cx="3810000" cy="889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DC6's VM bill for a day with no requests: the load balancer only picks VMs inside a data center</a:t>
            </a:r>
            <a:endParaRPr lang="en-US" sz="1600" dirty="0"/>
          </a:p>
        </p:txBody>
      </p:sp>
      <p:sp>
        <p:nvSpPr>
          <p:cNvPr id="24" name="Text 21"/>
          <p:cNvSpPr txBox="1"/>
          <p:nvPr/>
        </p:nvSpPr>
        <p:spPr>
          <a:xfrm>
            <a:off x="7569200" y="3937000"/>
            <a:ext cx="3810000" cy="3556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Cheapest run: $103.85</a:t>
            </a:r>
            <a:endParaRPr lang="en-US" sz="2200" dirty="0"/>
          </a:p>
        </p:txBody>
      </p:sp>
      <p:sp>
        <p:nvSpPr>
          <p:cNvPr id="25" name="Text 22"/>
          <p:cNvSpPr txBox="1"/>
          <p:nvPr/>
        </p:nvSpPr>
        <p:spPr>
          <a:xfrm>
            <a:off x="7569200" y="4368800"/>
            <a:ext cx="3810000" cy="635000"/>
          </a:xfrm>
          <a:prstGeom prst="rect">
            <a:avLst/>
          </a:prstGeom>
          <a:noFill/>
          <a:ln/>
        </p:spPr>
        <p:txBody>
          <a:bodyPr wrap="square" lIns="0" tIns="0" rIns="0" bIns="0" rtlCol="0" anchor="t"/>
          <a:lstStyle/>
          <a:p>
            <a:pPr algn="l" indent="0" marL="0">
              <a:lnSpc>
                <a:spcPct val="115000"/>
              </a:lnSpc>
              <a:buNone/>
            </a:pPr>
            <a:r>
              <a:rPr lang="en-US" sz="1600" dirty="0">
                <a:solidFill>
                  <a:srgbClr val="4A5568"/>
                </a:solidFill>
                <a:latin typeface="Arial" pitchFamily="34" charset="0"/>
                <a:ea typeface="Arial" pitchFamily="34" charset="-122"/>
                <a:cs typeface="Arial" pitchFamily="34" charset="-120"/>
              </a:rPr>
              <a:t>29 VMs served 7 user bases, on a different map from runs 01–05.</a:t>
            </a:r>
            <a:endParaRPr lang="en-US" sz="1600" dirty="0"/>
          </a:p>
        </p:txBody>
      </p:sp>
      <p:sp>
        <p:nvSpPr>
          <p:cNvPr id="26" name="Text 23"/>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27" name="Text 24"/>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SUMMARY</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All six runs side by side</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943100"/>
          <a:ext cx="10566400" cy="2933700"/>
        </p:xfrm>
        <a:graphic>
          <a:graphicData uri="http://schemas.openxmlformats.org/drawingml/2006/table">
            <a:tbl>
              <a:tblPr/>
              <a:tblGrid>
                <a:gridCol w="3592576"/>
                <a:gridCol w="1743456"/>
                <a:gridCol w="1743456"/>
                <a:gridCol w="1743456"/>
                <a:gridCol w="1743456"/>
              </a:tblGrid>
              <a:tr h="419100">
                <a:tc>
                  <a:txBody>
                    <a:bodyPr/>
                    <a:lstStyle/>
                    <a:p>
                      <a:pPr algn="l" indent="0" marL="0">
                        <a:buNone/>
                      </a:pPr>
                      <a:r>
                        <a:rPr lang="en-US" sz="1600" b="1" dirty="0">
                          <a:solidFill>
                            <a:srgbClr val="636B78"/>
                          </a:solidFill>
                          <a:latin typeface="Arial" pitchFamily="34" charset="0"/>
                          <a:ea typeface="Arial" pitchFamily="34" charset="-122"/>
                          <a:cs typeface="Arial" pitchFamily="34" charset="-120"/>
                        </a:rPr>
                        <a:t>Scenario</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b="1" dirty="0">
                          <a:solidFill>
                            <a:srgbClr val="636B78"/>
                          </a:solidFill>
                          <a:latin typeface="Arial" pitchFamily="34" charset="0"/>
                          <a:ea typeface="Arial" pitchFamily="34" charset="-122"/>
                          <a:cs typeface="Arial" pitchFamily="34" charset="-120"/>
                        </a:rPr>
                        <a:t>Avg response (ms)</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b="1" dirty="0">
                          <a:solidFill>
                            <a:srgbClr val="636B78"/>
                          </a:solidFill>
                          <a:latin typeface="Arial" pitchFamily="34" charset="0"/>
                          <a:ea typeface="Arial" pitchFamily="34" charset="-122"/>
                          <a:cs typeface="Arial" pitchFamily="34" charset="-120"/>
                        </a:rPr>
                        <a:t>Max response (ms)</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b="1" dirty="0">
                          <a:solidFill>
                            <a:srgbClr val="636B78"/>
                          </a:solidFill>
                          <a:latin typeface="Arial" pitchFamily="34" charset="0"/>
                          <a:ea typeface="Arial" pitchFamily="34" charset="-122"/>
                          <a:cs typeface="Arial" pitchFamily="34" charset="-120"/>
                        </a:rPr>
                        <a:t>Processing avg (ms)</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b="1" dirty="0">
                          <a:solidFill>
                            <a:srgbClr val="636B78"/>
                          </a:solidFill>
                          <a:latin typeface="Arial" pitchFamily="34" charset="0"/>
                          <a:ea typeface="Arial" pitchFamily="34" charset="-122"/>
                          <a:cs typeface="Arial" pitchFamily="34" charset="-120"/>
                        </a:rPr>
                        <a:t>Total cost</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0F1B2D"/>
                          </a:solidFill>
                          <a:latin typeface="Arial" pitchFamily="34" charset="0"/>
                          <a:ea typeface="Arial" pitchFamily="34" charset="-122"/>
                          <a:cs typeface="Arial" pitchFamily="34" charset="-120"/>
                        </a:rPr>
                        <a:t>Round Robin</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2456C7"/>
                          </a:solidFill>
                          <a:latin typeface="Arial" pitchFamily="34" charset="0"/>
                          <a:ea typeface="Arial" pitchFamily="34" charset="-122"/>
                          <a:cs typeface="Arial" pitchFamily="34" charset="-120"/>
                        </a:rPr>
                        <a:t>92.59</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400.88</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0.84</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$161.36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0F1B2D"/>
                          </a:solidFill>
                          <a:latin typeface="Arial" pitchFamily="34" charset="0"/>
                          <a:ea typeface="Arial" pitchFamily="34" charset="-122"/>
                          <a:cs typeface="Arial" pitchFamily="34" charset="-120"/>
                        </a:rPr>
                        <a:t>Throttled</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95.43</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400.88</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3.68</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2456C7"/>
                          </a:solidFill>
                          <a:latin typeface="Arial" pitchFamily="34" charset="0"/>
                          <a:ea typeface="Arial" pitchFamily="34" charset="-122"/>
                          <a:cs typeface="Arial" pitchFamily="34" charset="-120"/>
                        </a:rPr>
                        <a:t>$108.56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0F1B2D"/>
                          </a:solidFill>
                          <a:latin typeface="Arial" pitchFamily="34" charset="0"/>
                          <a:ea typeface="Arial" pitchFamily="34" charset="-122"/>
                          <a:cs typeface="Arial" pitchFamily="34" charset="-120"/>
                        </a:rPr>
                        <a:t>Under-provisioned DC</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95.44</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B4491A"/>
                          </a:solidFill>
                          <a:latin typeface="Arial" pitchFamily="34" charset="0"/>
                          <a:ea typeface="Arial" pitchFamily="34" charset="-122"/>
                          <a:cs typeface="Arial" pitchFamily="34" charset="-120"/>
                        </a:rPr>
                        <a:t>552.75</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3.68</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2456C7"/>
                          </a:solidFill>
                          <a:latin typeface="Arial" pitchFamily="34" charset="0"/>
                          <a:ea typeface="Arial" pitchFamily="34" charset="-122"/>
                          <a:cs typeface="Arial" pitchFamily="34" charset="-120"/>
                        </a:rPr>
                        <a:t>$108.56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0F1B2D"/>
                          </a:solidFill>
                          <a:latin typeface="Arial" pitchFamily="34" charset="0"/>
                          <a:ea typeface="Arial" pitchFamily="34" charset="-122"/>
                          <a:cs typeface="Arial" pitchFamily="34" charset="-120"/>
                        </a:rPr>
                        <a:t>Network latency edge case</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93.51</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401.07</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1.76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$175.76</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0F1B2D"/>
                          </a:solidFill>
                          <a:latin typeface="Arial" pitchFamily="34" charset="0"/>
                          <a:ea typeface="Arial" pitchFamily="34" charset="-122"/>
                          <a:cs typeface="Arial" pitchFamily="34" charset="-120"/>
                        </a:rPr>
                        <a:t>Cost-sensitive</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95.20</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550.67</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0F1B2D"/>
                          </a:solidFill>
                          <a:latin typeface="Arial" pitchFamily="34" charset="0"/>
                          <a:ea typeface="Arial" pitchFamily="34" charset="-122"/>
                          <a:cs typeface="Arial" pitchFamily="34" charset="-120"/>
                        </a:rPr>
                        <a:t>0.84</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B4491A"/>
                          </a:solidFill>
                          <a:latin typeface="Arial" pitchFamily="34" charset="0"/>
                          <a:ea typeface="Arial" pitchFamily="34" charset="-122"/>
                          <a:cs typeface="Arial" pitchFamily="34" charset="-120"/>
                        </a:rPr>
                        <a:t>$1,157.59</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r h="419100">
                <a:tc>
                  <a:txBody>
                    <a:bodyPr/>
                    <a:lstStyle/>
                    <a:p>
                      <a:pPr algn="l" indent="0" marL="0">
                        <a:buNone/>
                      </a:pPr>
                      <a:r>
                        <a:rPr lang="en-US" sz="1600" dirty="0">
                          <a:solidFill>
                            <a:srgbClr val="636B78"/>
                          </a:solidFill>
                          <a:latin typeface="Arial" pitchFamily="34" charset="0"/>
                          <a:ea typeface="Arial" pitchFamily="34" charset="-122"/>
                          <a:cs typeface="Arial" pitchFamily="34" charset="-120"/>
                        </a:rPr>
                        <a:t>Equally Spread (run 06) †</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636B78"/>
                          </a:solidFill>
                          <a:latin typeface="Arial" pitchFamily="34" charset="0"/>
                          <a:ea typeface="Arial" pitchFamily="34" charset="-122"/>
                          <a:cs typeface="Arial" pitchFamily="34" charset="-120"/>
                        </a:rPr>
                        <a:t>78.81</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636B78"/>
                          </a:solidFill>
                          <a:latin typeface="Arial" pitchFamily="34" charset="0"/>
                          <a:ea typeface="Arial" pitchFamily="34" charset="-122"/>
                          <a:cs typeface="Arial" pitchFamily="34" charset="-120"/>
                        </a:rPr>
                        <a:t>258.31</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636B78"/>
                          </a:solidFill>
                          <a:latin typeface="Arial" pitchFamily="34" charset="0"/>
                          <a:ea typeface="Arial" pitchFamily="34" charset="-122"/>
                          <a:cs typeface="Arial" pitchFamily="34" charset="-120"/>
                        </a:rPr>
                        <a:t>0.55</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636B78"/>
                          </a:solidFill>
                          <a:latin typeface="Arial" pitchFamily="34" charset="0"/>
                          <a:ea typeface="Arial" pitchFamily="34" charset="-122"/>
                          <a:cs typeface="Arial" pitchFamily="34" charset="-120"/>
                        </a:rPr>
                        <a:t>$103.85</a:t>
                      </a:r>
                      <a:endParaRPr lang="en-US" sz="1600" dirty="0">
                        <a:latin typeface="Arial" charset="0"/>
                        <a:ea typeface="Arial" charset="0"/>
                        <a:cs typeface="Arial" charset="0"/>
                      </a:endParaRPr>
                    </a:p>
                  </a:txBody>
                  <a:tcPr marL="109728" marR="109728" marT="73152" marB="73152" anchor="ctr">
                    <a:lnL w="0" cap="flat" cmpd="sng" algn="ctr">
                      <a:noFill/>
                    </a:lnL>
                    <a:lnR w="0" cap="flat" cmpd="sng" algn="ctr">
                      <a:noFill/>
                    </a:lnR>
                    <a:lnT w="0" cap="flat" cmpd="sng" algn="ctr">
                      <a:noFill/>
                    </a:lnT>
                    <a:lnB w="12700" cap="flat" cmpd="sng" algn="ctr">
                      <a:solidFill>
                        <a:srgbClr val="D9DCE1"/>
                      </a:solidFill>
                      <a:prstDash val="solid"/>
                      <a:round/>
                      <a:headEnd type="none" w="med" len="med"/>
                      <a:tailEnd type="none" w="med" len="med"/>
                    </a:lnB>
                  </a:tcPr>
                </a:tc>
              </a:tr>
            </a:tbl>
          </a:graphicData>
        </a:graphic>
      </p:graphicFrame>
      <p:sp>
        <p:nvSpPr>
          <p:cNvPr id="6" name="Text 2"/>
          <p:cNvSpPr txBox="1"/>
          <p:nvPr/>
        </p:nvSpPr>
        <p:spPr>
          <a:xfrm>
            <a:off x="812800" y="5257800"/>
            <a:ext cx="10566400" cy="731520"/>
          </a:xfrm>
          <a:prstGeom prst="rect">
            <a:avLst/>
          </a:prstGeom>
          <a:noFill/>
          <a:ln/>
        </p:spPr>
        <p:txBody>
          <a:bodyPr wrap="square" lIns="0" tIns="0" rIns="0" bIns="0" rtlCol="0" anchor="t"/>
          <a:lstStyle/>
          <a:p>
            <a:pPr algn="l" indent="0" marL="0">
              <a:lnSpc>
                <a:spcPct val="115000"/>
              </a:lnSpc>
              <a:buNone/>
            </a:pPr>
            <a:r>
              <a:rPr lang="en-US" sz="1200" dirty="0">
                <a:solidFill>
                  <a:srgbClr val="636B78"/>
                </a:solidFill>
                <a:latin typeface="Arial" pitchFamily="34" charset="0"/>
                <a:ea typeface="Arial" pitchFamily="34" charset="-122"/>
                <a:cs typeface="Arial" pitchFamily="34" charset="-120"/>
              </a:rPr>
              <a:t>Blue marks the best value and orange the worst across runs 01–05: fastest average (Round Robin), lowest cost (the 1 / 1 / 1 / 30 layout, runs 02 and 03), worst tail (Under-provisioned DC) and highest cost (Cost-sensitive). † Run 06 uses a larger map of 7 user bases and 6 data centers with shorter latencies, so it is shown in gray and not ranked.</a:t>
            </a:r>
            <a:endParaRPr lang="en-US" sz="1200" dirty="0"/>
          </a:p>
        </p:txBody>
      </p:sp>
      <p:sp>
        <p:nvSpPr>
          <p:cNvPr id="7" name="Text 3"/>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8" name="Text 4"/>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812800"/>
            <a:ext cx="105664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CONCLUSIONS</a:t>
            </a:r>
            <a:endParaRPr lang="en-US" sz="1200" dirty="0"/>
          </a:p>
        </p:txBody>
      </p:sp>
      <p:sp>
        <p:nvSpPr>
          <p:cNvPr id="4" name="Text 1"/>
          <p:cNvSpPr txBox="1"/>
          <p:nvPr/>
        </p:nvSpPr>
        <p:spPr>
          <a:xfrm>
            <a:off x="812800" y="1130300"/>
            <a:ext cx="10566400" cy="533400"/>
          </a:xfrm>
          <a:prstGeom prst="rect">
            <a:avLst/>
          </a:prstGeom>
          <a:noFill/>
          <a:ln/>
        </p:spPr>
        <p:txBody>
          <a:bodyPr wrap="square" lIns="0" tIns="0" rIns="0" bIns="0" rtlCol="0" anchor="t"/>
          <a:lstStyle/>
          <a:p>
            <a:pPr algn="l" indent="0" marL="0">
              <a:lnSpc>
                <a:spcPct val="100000"/>
              </a:lnSpc>
              <a:buNone/>
            </a:pPr>
            <a:r>
              <a:rPr lang="en-US" sz="3600" b="1" dirty="0">
                <a:solidFill>
                  <a:srgbClr val="0F1B2D"/>
                </a:solidFill>
                <a:latin typeface="Arial" pitchFamily="34" charset="0"/>
                <a:ea typeface="Arial" pitchFamily="34" charset="-122"/>
                <a:cs typeface="Arial" pitchFamily="34" charset="-120"/>
              </a:rPr>
              <a:t>What the study shows</a:t>
            </a:r>
            <a:endParaRPr lang="en-US" sz="3600" dirty="0"/>
          </a:p>
        </p:txBody>
      </p:sp>
      <p:sp>
        <p:nvSpPr>
          <p:cNvPr id="5" name="Shape 2"/>
          <p:cNvSpPr/>
          <p:nvPr/>
        </p:nvSpPr>
        <p:spPr>
          <a:xfrm>
            <a:off x="812800" y="1847088"/>
            <a:ext cx="10566400" cy="6350"/>
          </a:xfrm>
          <a:prstGeom prst="rect">
            <a:avLst/>
          </a:prstGeom>
          <a:solidFill>
            <a:srgbClr val="D9DCE1"/>
          </a:solidFill>
          <a:ln/>
        </p:spPr>
        <p:txBody>
          <a:bodyPr/>
          <a:p/>
        </p:txBody>
      </p:sp>
      <p:sp>
        <p:nvSpPr>
          <p:cNvPr id="6" name="Text 3"/>
          <p:cNvSpPr txBox="1"/>
          <p:nvPr/>
        </p:nvSpPr>
        <p:spPr>
          <a:xfrm>
            <a:off x="812800" y="1938528"/>
            <a:ext cx="609600" cy="342900"/>
          </a:xfrm>
          <a:prstGeom prst="rect">
            <a:avLst/>
          </a:prstGeom>
          <a:noFill/>
          <a:ln/>
        </p:spPr>
        <p:txBody>
          <a:bodyPr wrap="square" lIns="0" tIns="0" rIns="0" bIns="0" rtlCol="0" anchor="t"/>
          <a:lstStyle/>
          <a:p>
            <a:pPr algn="l" indent="0" marL="0">
              <a:lnSpc>
                <a:spcPct val="100000"/>
              </a:lnSpc>
              <a:buNone/>
            </a:pPr>
            <a:r>
              <a:rPr lang="en-US" sz="2200" b="1" dirty="0">
                <a:solidFill>
                  <a:srgbClr val="B4491A"/>
                </a:solidFill>
                <a:latin typeface="Arial" pitchFamily="34" charset="0"/>
                <a:ea typeface="Arial" pitchFamily="34" charset="-122"/>
                <a:cs typeface="Arial" pitchFamily="34" charset="-120"/>
              </a:rPr>
              <a:t>01</a:t>
            </a:r>
            <a:endParaRPr lang="en-US" sz="2200" dirty="0"/>
          </a:p>
        </p:txBody>
      </p:sp>
      <p:sp>
        <p:nvSpPr>
          <p:cNvPr id="7" name="Text 4"/>
          <p:cNvSpPr txBox="1"/>
          <p:nvPr/>
        </p:nvSpPr>
        <p:spPr>
          <a:xfrm>
            <a:off x="1574800" y="1938528"/>
            <a:ext cx="98044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Network latency dominates the average</a:t>
            </a:r>
            <a:endParaRPr lang="en-US" sz="2200" dirty="0"/>
          </a:p>
        </p:txBody>
      </p:sp>
      <p:sp>
        <p:nvSpPr>
          <p:cNvPr id="8" name="Text 5"/>
          <p:cNvSpPr txBox="1"/>
          <p:nvPr/>
        </p:nvSpPr>
        <p:spPr>
          <a:xfrm>
            <a:off x="1574800" y="2304288"/>
            <a:ext cx="9804400" cy="2794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Runs 01–05 all land at 92–95 ms; processing adds only a few milliseconds.</a:t>
            </a:r>
            <a:endParaRPr lang="en-US" sz="1600" dirty="0"/>
          </a:p>
        </p:txBody>
      </p:sp>
      <p:sp>
        <p:nvSpPr>
          <p:cNvPr id="9" name="Shape 6"/>
          <p:cNvSpPr/>
          <p:nvPr/>
        </p:nvSpPr>
        <p:spPr>
          <a:xfrm>
            <a:off x="812800" y="2651760"/>
            <a:ext cx="10566400" cy="6350"/>
          </a:xfrm>
          <a:prstGeom prst="rect">
            <a:avLst/>
          </a:prstGeom>
          <a:solidFill>
            <a:srgbClr val="D9DCE1"/>
          </a:solidFill>
          <a:ln/>
        </p:spPr>
        <p:txBody>
          <a:bodyPr/>
          <a:p/>
        </p:txBody>
      </p:sp>
      <p:sp>
        <p:nvSpPr>
          <p:cNvPr id="10" name="Text 7"/>
          <p:cNvSpPr txBox="1"/>
          <p:nvPr/>
        </p:nvSpPr>
        <p:spPr>
          <a:xfrm>
            <a:off x="812800" y="2743200"/>
            <a:ext cx="609600" cy="342900"/>
          </a:xfrm>
          <a:prstGeom prst="rect">
            <a:avLst/>
          </a:prstGeom>
          <a:noFill/>
          <a:ln/>
        </p:spPr>
        <p:txBody>
          <a:bodyPr wrap="square" lIns="0" tIns="0" rIns="0" bIns="0" rtlCol="0" anchor="t"/>
          <a:lstStyle/>
          <a:p>
            <a:pPr algn="l" indent="0" marL="0">
              <a:lnSpc>
                <a:spcPct val="100000"/>
              </a:lnSpc>
              <a:buNone/>
            </a:pPr>
            <a:r>
              <a:rPr lang="en-US" sz="2200" b="1" dirty="0">
                <a:solidFill>
                  <a:srgbClr val="B4491A"/>
                </a:solidFill>
                <a:latin typeface="Arial" pitchFamily="34" charset="0"/>
                <a:ea typeface="Arial" pitchFamily="34" charset="-122"/>
                <a:cs typeface="Arial" pitchFamily="34" charset="-120"/>
              </a:rPr>
              <a:t>02</a:t>
            </a:r>
            <a:endParaRPr lang="en-US" sz="2200" dirty="0"/>
          </a:p>
        </p:txBody>
      </p:sp>
      <p:sp>
        <p:nvSpPr>
          <p:cNvPr id="11" name="Text 8"/>
          <p:cNvSpPr txBox="1"/>
          <p:nvPr/>
        </p:nvSpPr>
        <p:spPr>
          <a:xfrm>
            <a:off x="1574800" y="2743200"/>
            <a:ext cx="98044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Provisioning drives the tail, not the mean</a:t>
            </a:r>
            <a:endParaRPr lang="en-US" sz="2200" dirty="0"/>
          </a:p>
        </p:txBody>
      </p:sp>
      <p:sp>
        <p:nvSpPr>
          <p:cNvPr id="12" name="Text 9"/>
          <p:cNvSpPr txBox="1"/>
          <p:nvPr/>
        </p:nvSpPr>
        <p:spPr>
          <a:xfrm>
            <a:off x="1574800" y="3108960"/>
            <a:ext cx="9804400" cy="2794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Starved DCs push the max to 552.75 ms; the average stays near 95 ms.</a:t>
            </a:r>
            <a:endParaRPr lang="en-US" sz="1600" dirty="0"/>
          </a:p>
        </p:txBody>
      </p:sp>
      <p:sp>
        <p:nvSpPr>
          <p:cNvPr id="13" name="Shape 10"/>
          <p:cNvSpPr/>
          <p:nvPr/>
        </p:nvSpPr>
        <p:spPr>
          <a:xfrm>
            <a:off x="812800" y="3456432"/>
            <a:ext cx="10566400" cy="6350"/>
          </a:xfrm>
          <a:prstGeom prst="rect">
            <a:avLst/>
          </a:prstGeom>
          <a:solidFill>
            <a:srgbClr val="D9DCE1"/>
          </a:solidFill>
          <a:ln/>
        </p:spPr>
        <p:txBody>
          <a:bodyPr/>
          <a:p/>
        </p:txBody>
      </p:sp>
      <p:sp>
        <p:nvSpPr>
          <p:cNvPr id="14" name="Text 11"/>
          <p:cNvSpPr txBox="1"/>
          <p:nvPr/>
        </p:nvSpPr>
        <p:spPr>
          <a:xfrm>
            <a:off x="812800" y="3547872"/>
            <a:ext cx="609600" cy="342900"/>
          </a:xfrm>
          <a:prstGeom prst="rect">
            <a:avLst/>
          </a:prstGeom>
          <a:noFill/>
          <a:ln/>
        </p:spPr>
        <p:txBody>
          <a:bodyPr wrap="square" lIns="0" tIns="0" rIns="0" bIns="0" rtlCol="0" anchor="t"/>
          <a:lstStyle/>
          <a:p>
            <a:pPr algn="l" indent="0" marL="0">
              <a:lnSpc>
                <a:spcPct val="100000"/>
              </a:lnSpc>
              <a:buNone/>
            </a:pPr>
            <a:r>
              <a:rPr lang="en-US" sz="2200" b="1" dirty="0">
                <a:solidFill>
                  <a:srgbClr val="B4491A"/>
                </a:solidFill>
                <a:latin typeface="Arial" pitchFamily="34" charset="0"/>
                <a:ea typeface="Arial" pitchFamily="34" charset="-122"/>
                <a:cs typeface="Arial" pitchFamily="34" charset="-120"/>
              </a:rPr>
              <a:t>03</a:t>
            </a:r>
            <a:endParaRPr lang="en-US" sz="2200" dirty="0"/>
          </a:p>
        </p:txBody>
      </p:sp>
      <p:sp>
        <p:nvSpPr>
          <p:cNvPr id="15" name="Text 12"/>
          <p:cNvSpPr txBox="1"/>
          <p:nvPr/>
        </p:nvSpPr>
        <p:spPr>
          <a:xfrm>
            <a:off x="1574800" y="3547872"/>
            <a:ext cx="98044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Choose the policy by the binding constraint</a:t>
            </a:r>
            <a:endParaRPr lang="en-US" sz="2200" dirty="0"/>
          </a:p>
        </p:txBody>
      </p:sp>
      <p:sp>
        <p:nvSpPr>
          <p:cNvPr id="16" name="Text 13"/>
          <p:cNvSpPr txBox="1"/>
          <p:nvPr/>
        </p:nvSpPr>
        <p:spPr>
          <a:xfrm>
            <a:off x="1574800" y="3913632"/>
            <a:ext cx="9804400" cy="2794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On the shared map, Round Robin is fastest at 92.59 ms and Throttled cheapest at $108.56.</a:t>
            </a:r>
            <a:endParaRPr lang="en-US" sz="1600" dirty="0"/>
          </a:p>
        </p:txBody>
      </p:sp>
      <p:sp>
        <p:nvSpPr>
          <p:cNvPr id="17" name="Shape 14"/>
          <p:cNvSpPr/>
          <p:nvPr/>
        </p:nvSpPr>
        <p:spPr>
          <a:xfrm>
            <a:off x="812800" y="4261104"/>
            <a:ext cx="10566400" cy="6350"/>
          </a:xfrm>
          <a:prstGeom prst="rect">
            <a:avLst/>
          </a:prstGeom>
          <a:solidFill>
            <a:srgbClr val="D9DCE1"/>
          </a:solidFill>
          <a:ln/>
        </p:spPr>
        <p:txBody>
          <a:bodyPr/>
          <a:p/>
        </p:txBody>
      </p:sp>
      <p:sp>
        <p:nvSpPr>
          <p:cNvPr id="24" name="Shape 30"/>
          <p:cNvSpPr/>
          <p:nvPr/>
        </p:nvSpPr>
        <p:spPr>
          <a:xfrm>
            <a:off x="812800" y="5065776"/>
            <a:ext cx="10566400" cy="6350"/>
          </a:xfrm>
          <a:prstGeom prst="rect">
            <a:avLst/>
          </a:prstGeom>
          <a:solidFill>
            <a:srgbClr val="D9DCE1"/>
          </a:solidFill>
          <a:ln/>
        </p:spPr>
        <p:txBody>
          <a:bodyPr/>
          <a:p/>
        </p:txBody>
      </p:sp>
      <p:sp>
        <p:nvSpPr>
          <p:cNvPr id="18" name="Text 15"/>
          <p:cNvSpPr txBox="1"/>
          <p:nvPr/>
        </p:nvSpPr>
        <p:spPr>
          <a:xfrm>
            <a:off x="812800" y="4352544"/>
            <a:ext cx="609600" cy="342900"/>
          </a:xfrm>
          <a:prstGeom prst="rect">
            <a:avLst/>
          </a:prstGeom>
          <a:noFill/>
          <a:ln/>
        </p:spPr>
        <p:txBody>
          <a:bodyPr wrap="square" lIns="0" tIns="0" rIns="0" bIns="0" rtlCol="0" anchor="t"/>
          <a:lstStyle/>
          <a:p>
            <a:pPr algn="l" indent="0" marL="0">
              <a:lnSpc>
                <a:spcPct val="100000"/>
              </a:lnSpc>
              <a:buNone/>
            </a:pPr>
            <a:r>
              <a:rPr lang="en-US" sz="2200" b="1" dirty="0">
                <a:solidFill>
                  <a:srgbClr val="B4491A"/>
                </a:solidFill>
                <a:latin typeface="Arial" pitchFamily="34" charset="0"/>
                <a:ea typeface="Arial" pitchFamily="34" charset="-122"/>
                <a:cs typeface="Arial" pitchFamily="34" charset="-120"/>
              </a:rPr>
              <a:t>04</a:t>
            </a:r>
            <a:endParaRPr lang="en-US" sz="2200" dirty="0"/>
          </a:p>
        </p:txBody>
      </p:sp>
      <p:sp>
        <p:nvSpPr>
          <p:cNvPr id="25" name="Text 31"/>
          <p:cNvSpPr txBox="1"/>
          <p:nvPr/>
        </p:nvSpPr>
        <p:spPr>
          <a:xfrm>
            <a:off x="812800" y="5157216"/>
            <a:ext cx="609600" cy="342900"/>
          </a:xfrm>
          <a:prstGeom prst="rect">
            <a:avLst/>
          </a:prstGeom>
          <a:noFill/>
          <a:ln/>
        </p:spPr>
        <p:txBody>
          <a:bodyPr wrap="square" lIns="0" tIns="0" rIns="0" bIns="0" rtlCol="0" anchor="t"/>
          <a:lstStyle/>
          <a:p>
            <a:pPr algn="l" indent="0" marL="0">
              <a:lnSpc>
                <a:spcPct val="100000"/>
              </a:lnSpc>
              <a:buNone/>
            </a:pPr>
            <a:r>
              <a:rPr lang="en-US" sz="2200" b="1" dirty="0">
                <a:solidFill>
                  <a:srgbClr val="B4491A"/>
                </a:solidFill>
                <a:latin typeface="Arial" pitchFamily="34" charset="0"/>
                <a:ea typeface="Arial" pitchFamily="34" charset="-122"/>
                <a:cs typeface="Arial" pitchFamily="34" charset="-120"/>
              </a:rPr>
              <a:t>05</a:t>
            </a:r>
            <a:endParaRPr lang="en-US" sz="2200" dirty="0"/>
          </a:p>
        </p:txBody>
      </p:sp>
      <p:sp>
        <p:nvSpPr>
          <p:cNvPr id="19" name="Text 16"/>
          <p:cNvSpPr txBox="1"/>
          <p:nvPr/>
        </p:nvSpPr>
        <p:spPr>
          <a:xfrm>
            <a:off x="1574800" y="4352544"/>
            <a:ext cx="98044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Payload size is the biggest cost lever</a:t>
            </a:r>
            <a:endParaRPr lang="en-US" sz="2200" dirty="0"/>
          </a:p>
        </p:txBody>
      </p:sp>
      <p:sp>
        <p:nvSpPr>
          <p:cNvPr id="26" name="Text 32"/>
          <p:cNvSpPr txBox="1"/>
          <p:nvPr/>
        </p:nvSpPr>
        <p:spPr>
          <a:xfrm>
            <a:off x="1574800" y="5157216"/>
            <a:ext cx="9804400" cy="3429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Load balancing works inside a data center, not across them</a:t>
            </a:r>
            <a:endParaRPr lang="en-US" sz="2200" dirty="0"/>
          </a:p>
        </p:txBody>
      </p:sp>
      <p:sp>
        <p:nvSpPr>
          <p:cNvPr id="20" name="Text 17"/>
          <p:cNvSpPr txBox="1"/>
          <p:nvPr/>
        </p:nvSpPr>
        <p:spPr>
          <a:xfrm>
            <a:off x="1574800" y="4718304"/>
            <a:ext cx="9804400" cy="2794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Data transfer was $1,001.58 of the $1,157.59 cost-sensitive bill.</a:t>
            </a:r>
            <a:endParaRPr lang="en-US" sz="1600" dirty="0"/>
          </a:p>
        </p:txBody>
      </p:sp>
      <p:sp>
        <p:nvSpPr>
          <p:cNvPr id="27" name="Text 33"/>
          <p:cNvSpPr txBox="1"/>
          <p:nvPr/>
        </p:nvSpPr>
        <p:spPr>
          <a:xfrm>
            <a:off x="1574800" y="5522976"/>
            <a:ext cx="9804400" cy="279400"/>
          </a:xfrm>
          <a:prstGeom prst="rect">
            <a:avLst/>
          </a:prstGeom>
          <a:noFill/>
          <a:ln/>
        </p:spPr>
        <p:txBody>
          <a:bodyPr wrap="square" lIns="0" tIns="0" rIns="0" bIns="0" rtlCol="0" anchor="t"/>
          <a:lstStyle/>
          <a:p>
            <a:pPr algn="l" indent="0" marL="0">
              <a:lnSpc>
                <a:spcPct val="100000"/>
              </a:lnSpc>
              <a:buNone/>
            </a:pPr>
            <a:r>
              <a:rPr lang="en-US" sz="1600" dirty="0">
                <a:solidFill>
                  <a:srgbClr val="4A5568"/>
                </a:solidFill>
                <a:latin typeface="Arial" pitchFamily="34" charset="0"/>
                <a:ea typeface="Arial" pitchFamily="34" charset="-122"/>
                <a:cs typeface="Arial" pitchFamily="34" charset="-120"/>
              </a:rPr>
              <a:t>Equally Spread held processing at 0.55 ms, but idle DC6 still cost $9.60.</a:t>
            </a:r>
            <a:endParaRPr lang="en-US" sz="1600" dirty="0"/>
          </a:p>
        </p:txBody>
      </p:sp>
      <p:sp>
        <p:nvSpPr>
          <p:cNvPr id="21" name="Shape 18"/>
          <p:cNvSpPr/>
          <p:nvPr/>
        </p:nvSpPr>
        <p:spPr>
          <a:xfrm>
            <a:off x="812800" y="5870448"/>
            <a:ext cx="10566400" cy="6350"/>
          </a:xfrm>
          <a:prstGeom prst="rect">
            <a:avLst/>
          </a:prstGeom>
          <a:solidFill>
            <a:srgbClr val="D9DCE1"/>
          </a:solidFill>
          <a:ln/>
        </p:spPr>
        <p:txBody>
          <a:bodyPr/>
          <a:p/>
        </p:txBody>
      </p:sp>
      <p:sp>
        <p:nvSpPr>
          <p:cNvPr id="22" name="Text 19"/>
          <p:cNvSpPr txBox="1"/>
          <p:nvPr/>
        </p:nvSpPr>
        <p:spPr>
          <a:xfrm>
            <a:off x="812800" y="6235700"/>
            <a:ext cx="7620000" cy="215900"/>
          </a:xfrm>
          <a:prstGeom prst="rect">
            <a:avLst/>
          </a:prstGeom>
          <a:noFill/>
          <a:ln/>
        </p:spPr>
        <p:txBody>
          <a:bodyPr wrap="square" lIns="0" tIns="0" rIns="0" bIns="0" rtlCol="0" anchor="t"/>
          <a:lstStyle/>
          <a:p>
            <a:pPr algn="l"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 · CloudAnalyst Results</a:t>
            </a:r>
            <a:endParaRPr lang="en-US" sz="1200" dirty="0"/>
          </a:p>
        </p:txBody>
      </p:sp>
      <p:sp>
        <p:nvSpPr>
          <p:cNvPr id="23" name="Text 20"/>
          <p:cNvSpPr txBox="1"/>
          <p:nvPr/>
        </p:nvSpPr>
        <p:spPr>
          <a:xfrm>
            <a:off x="10109200" y="6235700"/>
            <a:ext cx="127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lorida Atlantic University owl watermark">    </p:cNvPr>
          <p:cNvPicPr>
            <a:picLocks noChangeAspect="1"/>
          </p:cNvPicPr>
          <p:nvPr/>
        </p:nvPicPr>
        <p:blipFill>
          <a:blip r:embed="rId1"/>
          <a:stretch>
            <a:fillRect/>
          </a:stretch>
        </p:blipFill>
        <p:spPr>
          <a:xfrm>
            <a:off x="2921000" y="1504950"/>
            <a:ext cx="6350000" cy="3854450"/>
          </a:xfrm>
          <a:prstGeom prst="rect">
            <a:avLst/>
          </a:prstGeom>
        </p:spPr>
      </p:pic>
      <p:sp>
        <p:nvSpPr>
          <p:cNvPr id="3" name="Text 0"/>
          <p:cNvSpPr txBox="1"/>
          <p:nvPr/>
        </p:nvSpPr>
        <p:spPr>
          <a:xfrm>
            <a:off x="812800" y="1149350"/>
            <a:ext cx="7620000" cy="215900"/>
          </a:xfrm>
          <a:prstGeom prst="rect">
            <a:avLst/>
          </a:prstGeom>
          <a:noFill/>
          <a:ln/>
        </p:spPr>
        <p:txBody>
          <a:bodyPr wrap="square" lIns="0" tIns="0" rIns="0" bIns="0" rtlCol="0" anchor="t"/>
          <a:lstStyle/>
          <a:p>
            <a:pPr algn="l" indent="0" marL="0">
              <a:lnSpc>
                <a:spcPct val="100000"/>
              </a:lnSpc>
              <a:buNone/>
            </a:pPr>
            <a:r>
              <a:rPr lang="en-US" sz="1200" b="1" spc="100" kern="0" dirty="0">
                <a:solidFill>
                  <a:srgbClr val="B4491A"/>
                </a:solidFill>
                <a:latin typeface="Arial" pitchFamily="34" charset="0"/>
                <a:ea typeface="Arial" pitchFamily="34" charset="-122"/>
                <a:cs typeface="Arial" pitchFamily="34" charset="-120"/>
              </a:rPr>
              <a:t>THE HABIT TO KEEP</a:t>
            </a:r>
            <a:endParaRPr lang="en-US" sz="1200" dirty="0"/>
          </a:p>
        </p:txBody>
      </p:sp>
      <p:pic>
        <p:nvPicPr>
          <p:cNvPr id="4" name="Image 1" descr="Florida Atlantic University owl logo">    </p:cNvPr>
          <p:cNvPicPr>
            <a:picLocks noChangeAspect="1"/>
          </p:cNvPicPr>
          <p:nvPr/>
        </p:nvPicPr>
        <p:blipFill>
          <a:blip r:embed="rId2"/>
          <a:stretch>
            <a:fillRect/>
          </a:stretch>
        </p:blipFill>
        <p:spPr>
          <a:xfrm>
            <a:off x="9912350" y="812800"/>
            <a:ext cx="1466850" cy="889000"/>
          </a:xfrm>
          <a:prstGeom prst="rect">
            <a:avLst/>
          </a:prstGeom>
        </p:spPr>
      </p:pic>
      <p:sp>
        <p:nvSpPr>
          <p:cNvPr id="5" name="Shape 1"/>
          <p:cNvSpPr/>
          <p:nvPr/>
        </p:nvSpPr>
        <p:spPr>
          <a:xfrm>
            <a:off x="812800" y="2133600"/>
            <a:ext cx="1016000" cy="38100"/>
          </a:xfrm>
          <a:prstGeom prst="rect">
            <a:avLst/>
          </a:prstGeom>
          <a:solidFill>
            <a:srgbClr val="B4491A"/>
          </a:solidFill>
          <a:ln/>
        </p:spPr>
        <p:txBody>
          <a:bodyPr/>
          <a:p/>
        </p:txBody>
      </p:sp>
      <p:sp>
        <p:nvSpPr>
          <p:cNvPr id="6" name="Text 2"/>
          <p:cNvSpPr txBox="1"/>
          <p:nvPr/>
        </p:nvSpPr>
        <p:spPr>
          <a:xfrm>
            <a:off x="812800" y="2374900"/>
            <a:ext cx="10566400" cy="1714500"/>
          </a:xfrm>
          <a:prstGeom prst="rect">
            <a:avLst/>
          </a:prstGeom>
          <a:noFill/>
          <a:ln/>
        </p:spPr>
        <p:txBody>
          <a:bodyPr wrap="square" lIns="0" tIns="0" rIns="0" bIns="0" rtlCol="0" anchor="t"/>
          <a:lstStyle/>
          <a:p>
            <a:pPr algn="l" indent="0" marL="0">
              <a:lnSpc>
                <a:spcPct val="95000"/>
              </a:lnSpc>
              <a:buNone/>
            </a:pPr>
            <a:r>
              <a:rPr lang="en-US" sz="6000" b="1" dirty="0">
                <a:solidFill>
                  <a:srgbClr val="0F1B2D"/>
                </a:solidFill>
                <a:latin typeface="Arial" pitchFamily="34" charset="0"/>
                <a:ea typeface="Arial" pitchFamily="34" charset="-122"/>
                <a:cs typeface="Arial" pitchFamily="34" charset="-120"/>
              </a:rPr>
              <a:t>Report the tail, not just the average.</a:t>
            </a:r>
            <a:endParaRPr lang="en-US" sz="6000" dirty="0"/>
          </a:p>
        </p:txBody>
      </p:sp>
      <p:sp>
        <p:nvSpPr>
          <p:cNvPr id="7" name="Text 3"/>
          <p:cNvSpPr txBox="1"/>
          <p:nvPr/>
        </p:nvSpPr>
        <p:spPr>
          <a:xfrm>
            <a:off x="812800" y="4356100"/>
            <a:ext cx="8890000" cy="1079500"/>
          </a:xfrm>
          <a:prstGeom prst="rect">
            <a:avLst/>
          </a:prstGeom>
          <a:noFill/>
          <a:ln/>
        </p:spPr>
        <p:txBody>
          <a:bodyPr wrap="square" lIns="0" tIns="0" rIns="0" bIns="0" rtlCol="0" anchor="t"/>
          <a:lstStyle/>
          <a:p>
            <a:pPr algn="l" indent="0" marL="0">
              <a:lnSpc>
                <a:spcPct val="110000"/>
              </a:lnSpc>
              <a:buNone/>
            </a:pPr>
            <a:r>
              <a:rPr lang="en-US" sz="2200" dirty="0">
                <a:solidFill>
                  <a:srgbClr val="4A5568"/>
                </a:solidFill>
                <a:latin typeface="Arial" pitchFamily="34" charset="0"/>
                <a:ea typeface="Arial" pitchFamily="34" charset="-122"/>
                <a:cs typeface="Arial" pitchFamily="34" charset="-120"/>
              </a:rPr>
              <a:t>The average masked the worst failure mode in this study. Maximum and 95th-percentile latency belong in every result.</a:t>
            </a:r>
            <a:endParaRPr lang="en-US" sz="2200" dirty="0"/>
          </a:p>
        </p:txBody>
      </p:sp>
      <p:sp>
        <p:nvSpPr>
          <p:cNvPr id="8" name="Text 4"/>
          <p:cNvSpPr txBox="1"/>
          <p:nvPr/>
        </p:nvSpPr>
        <p:spPr>
          <a:xfrm>
            <a:off x="812800" y="5676900"/>
            <a:ext cx="6350000" cy="368300"/>
          </a:xfrm>
          <a:prstGeom prst="rect">
            <a:avLst/>
          </a:prstGeom>
          <a:noFill/>
          <a:ln/>
        </p:spPr>
        <p:txBody>
          <a:bodyPr wrap="square" lIns="0" tIns="0" rIns="0" bIns="0" rtlCol="0" anchor="t"/>
          <a:lstStyle/>
          <a:p>
            <a:pPr algn="l" indent="0" marL="0">
              <a:lnSpc>
                <a:spcPct val="100000"/>
              </a:lnSpc>
              <a:buNone/>
            </a:pPr>
            <a:r>
              <a:rPr lang="en-US" sz="2200" b="1" dirty="0">
                <a:solidFill>
                  <a:srgbClr val="0F1B2D"/>
                </a:solidFill>
                <a:latin typeface="Arial" pitchFamily="34" charset="0"/>
                <a:ea typeface="Arial" pitchFamily="34" charset="-122"/>
                <a:cs typeface="Arial" pitchFamily="34" charset="-120"/>
              </a:rPr>
              <a:t>Thank you · Questions?</a:t>
            </a:r>
            <a:endParaRPr lang="en-US" sz="2200" dirty="0"/>
          </a:p>
        </p:txBody>
      </p:sp>
      <p:sp>
        <p:nvSpPr>
          <p:cNvPr id="9" name="Text 5"/>
          <p:cNvSpPr txBox="1"/>
          <p:nvPr/>
        </p:nvSpPr>
        <p:spPr>
          <a:xfrm>
            <a:off x="7569200" y="5816600"/>
            <a:ext cx="3810000" cy="215900"/>
          </a:xfrm>
          <a:prstGeom prst="rect">
            <a:avLst/>
          </a:prstGeom>
          <a:noFill/>
          <a:ln/>
        </p:spPr>
        <p:txBody>
          <a:bodyPr wrap="square" lIns="0" tIns="0" rIns="0" bIns="0" rtlCol="0" anchor="t"/>
          <a:lstStyle/>
          <a:p>
            <a:pPr algn="r" indent="0" marL="0">
              <a:lnSpc>
                <a:spcPct val="100000"/>
              </a:lnSpc>
              <a:buNone/>
            </a:pPr>
            <a:r>
              <a:rPr lang="en-US" sz="1200" dirty="0">
                <a:solidFill>
                  <a:srgbClr val="636B78"/>
                </a:solidFill>
                <a:latin typeface="Arial" pitchFamily="34" charset="0"/>
                <a:ea typeface="Arial" pitchFamily="34" charset="-122"/>
                <a:cs typeface="Arial" pitchFamily="34" charset="-120"/>
              </a:rPr>
              <a:t>Aryan Kanani · COP 6819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Florida Atlantic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CloudAnalyst Results</dc:title>
  <dc:subject>COP 6819 · Advanced Internet Systems</dc:subject>
  <dc:creator>Aryan Kanani</dc:creator>
  <cp:lastModifiedBy>Aryan Kanani</cp:lastModifiedBy>
  <cp:revision>1</cp:revision>
  <dcterms:created xsi:type="dcterms:W3CDTF">2026-09-26T21:22:49Z</dcterms:created>
  <dcterms:modified xsi:type="dcterms:W3CDTF">2026-09-26T21:22:49Z</dcterms:modified>
</cp:coreProperties>
</file>